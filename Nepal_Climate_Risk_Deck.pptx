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593a506-30d7-31a9-1fdd-c47bb65cf984}">
          <p14:sldIdLst>
            <p14:sldId id="256"/>
            <p14:sldId id="257"/>
            <p14:sldId id="258"/>
            <p14:sldId id="259"/>
          </p14:sldIdLst>
        </p14:section>
        <p14:section name="Climate" id="{7e5aa4fd-f2be-187b-bdd4-973379a41d9c}">
          <p14:sldIdLst>
            <p14:sldId id="260"/>
            <p14:sldId id="261"/>
          </p14:sldIdLst>
        </p14:section>
        <p14:section name="Terrain and exposure" id="{14b742f9-241e-ca18-a82c-afd1c1412a4a}">
          <p14:sldIdLst>
            <p14:sldId id="262"/>
            <p14:sldId id="263"/>
          </p14:sldIdLst>
        </p14:section>
        <p14:section name="Risk index" id="{2dc5b69b-b6b9-1b06-29b6-d053c1145674}">
          <p14:sldIdLst>
            <p14:sldId id="264"/>
            <p14:sldId id="265"/>
          </p14:sldIdLst>
        </p14:section>
        <p14:section name="Validation" id="{3dd7a71b-9fd6-1ac3-18f2-c7bb44935b53}">
          <p14:sldIdLst>
            <p14:sldId id="266"/>
            <p14:sldId id="267"/>
            <p14:sldId id="268"/>
            <p14:sldId id="269"/>
          </p14:sldIdLst>
        </p14:section>
        <p14:section name="Recommendation" id="{ce7126bc-31e7-c51c-4b27-708426ead4a3}">
          <p14:sldIdLst>
            <p14:sldId id="270"/>
            <p14:sldId id="271"/>
            <p14:sldId id="272"/>
          </p14:sldIdLst>
        </p14:section>
        <p14:section name="Appendix" id="{af1268aa-1ee9-bdcb-94f6-ae0c9a7f7944}">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Average annual rainfall, 45 independent series (mm)</a:t>
            </a:r>
          </a:p>
        </c:rich>
      </c:tx>
      <c:layout/>
      <c:overlay val="0"/>
    </c:title>
    <c:autoTitleDeleted val="0"/>
    <c:plotArea>
      <c:layout/>
      <c:lineChart>
        <c:varyColors val="0"/>
        <c:ser>
          <c:idx val="0"/>
          <c:order val="0"/>
          <c:tx>
            <c:strRef>
              <c:f>Sheet1!$B$1</c:f>
              <c:strCache>
                <c:ptCount val="1"/>
                <c:pt idx="0">
                  <c:v>Annual rainfall</c:v>
                </c:pt>
              </c:strCache>
            </c:strRef>
          </c:tx>
          <c:spPr>
            <a:solidFill>
              <a:srgbClr val="0072B2"/>
            </a:solidFill>
            <a:ln w="25400" cap="flat">
              <a:solidFill>
                <a:srgbClr val="0072B2"/>
              </a:solidFill>
              <a:prstDash val="solid"/>
              <a:round/>
            </a:ln>
            <a:effectLst/>
          </c:spPr>
          <c:invertIfNegative val="0"/>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marker>
            <c:symbol val="circle"/>
            <c:size val="7"/>
            <c:spPr>
              <a:solidFill>
                <a:srgbClr val="0072B2"/>
              </a:solidFill>
              <a:ln w="9525" cap="flat">
                <a:solidFill>
                  <a:srgbClr val="0072B2"/>
                </a:solidFill>
                <a:prstDash val="solid"/>
                <a:round/>
              </a:ln>
              <a:effectLst/>
            </c:spPr>
          </c:marker>
          <c:cat>
            <c:multiLvlStrRef>
              <c:f>Sheet1!$A$2:$A$23</c:f>
              <c:multiLvlStrCache>
                <c:ptCount val="22"/>
                <c:lvl>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pt idx="18">
                    <c:v>2022</c:v>
                  </c:pt>
                  <c:pt idx="19">
                    <c:v>2023</c:v>
                  </c:pt>
                  <c:pt idx="20">
                    <c:v>2024</c:v>
                  </c:pt>
                  <c:pt idx="21">
                    <c:v>2025</c:v>
                  </c:pt>
                </c:lvl>
              </c:multiLvlStrCache>
            </c:multiLvlStrRef>
          </c:cat>
          <c:val>
            <c:numRef>
              <c:f>Sheet1!$B$2:$B$23</c:f>
              <c:numCache>
                <c:formatCode>General</c:formatCode>
                <c:ptCount val="22"/>
                <c:pt idx="0">
                  <c:v>1041</c:v>
                </c:pt>
                <c:pt idx="1">
                  <c:v>1075</c:v>
                </c:pt>
                <c:pt idx="2">
                  <c:v>1025</c:v>
                </c:pt>
                <c:pt idx="3">
                  <c:v>1243</c:v>
                </c:pt>
                <c:pt idx="4">
                  <c:v>1300</c:v>
                </c:pt>
                <c:pt idx="5">
                  <c:v>928</c:v>
                </c:pt>
                <c:pt idx="6">
                  <c:v>1117</c:v>
                </c:pt>
                <c:pt idx="7">
                  <c:v>1235</c:v>
                </c:pt>
                <c:pt idx="8">
                  <c:v>1034</c:v>
                </c:pt>
                <c:pt idx="9">
                  <c:v>1452</c:v>
                </c:pt>
                <c:pt idx="10">
                  <c:v>1210</c:v>
                </c:pt>
                <c:pt idx="11">
                  <c:v>1232</c:v>
                </c:pt>
                <c:pt idx="12">
                  <c:v>1247</c:v>
                </c:pt>
                <c:pt idx="13">
                  <c:v>1216</c:v>
                </c:pt>
                <c:pt idx="14">
                  <c:v>1160</c:v>
                </c:pt>
                <c:pt idx="15">
                  <c:v>1314</c:v>
                </c:pt>
                <c:pt idx="16">
                  <c:v>1651</c:v>
                </c:pt>
                <c:pt idx="17">
                  <c:v>1784</c:v>
                </c:pt>
                <c:pt idx="18">
                  <c:v>1431</c:v>
                </c:pt>
                <c:pt idx="19">
                  <c:v>1285</c:v>
                </c:pt>
                <c:pt idx="20">
                  <c:v>1502</c:v>
                </c:pt>
                <c:pt idx="21">
                  <c:v>1417</c:v>
                </c:pt>
              </c:numCache>
            </c:numRef>
          </c:val>
          <c:smooth val="0"/>
        </c:ser>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Trend</c:v>
                </c:pt>
              </c:strCache>
            </c:strRef>
          </c:tx>
          <c:spPr>
            <a:solidFill>
              <a:srgbClr val="D55E00"/>
            </a:solidFill>
            <a:ln w="25400" cap="flat">
              <a:solidFill>
                <a:srgbClr val="D55E00"/>
              </a:solidFill>
              <a:prstDash val="dash"/>
              <a:round/>
            </a:ln>
            <a:effectLst/>
          </c:spPr>
          <c:invertIfNegative val="0"/>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marker>
            <c:symbol val="none"/>
            <c:size val="6"/>
            <c:spPr>
              <a:solidFill>
                <a:srgbClr val="D55E00"/>
              </a:solidFill>
              <a:ln w="9525" cap="flat">
                <a:solidFill>
                  <a:srgbClr val="D55E00"/>
                </a:solidFill>
                <a:prstDash val="solid"/>
                <a:round/>
              </a:ln>
              <a:effectLst/>
            </c:spPr>
          </c:marker>
          <c:cat>
            <c:multiLvlStrRef>
              <c:f>Sheet1!$A$2:$A$23</c:f>
              <c:multiLvlStrCache>
                <c:ptCount val="22"/>
                <c:lvl>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pt idx="18">
                    <c:v>2022</c:v>
                  </c:pt>
                  <c:pt idx="19">
                    <c:v>2023</c:v>
                  </c:pt>
                  <c:pt idx="20">
                    <c:v>2024</c:v>
                  </c:pt>
                  <c:pt idx="21">
                    <c:v>2025</c:v>
                  </c:pt>
                </c:lvl>
              </c:multiLvlStrCache>
            </c:multiLvlStrRef>
          </c:cat>
          <c:val>
            <c:numRef>
              <c:f>Sheet1!$C$2:$C$23</c:f>
              <c:numCache>
                <c:formatCode>General</c:formatCode>
                <c:ptCount val="22"/>
                <c:pt idx="0">
                  <c:v>1036</c:v>
                </c:pt>
                <c:pt idx="1">
                  <c:v>1058</c:v>
                </c:pt>
                <c:pt idx="2">
                  <c:v>1081</c:v>
                </c:pt>
                <c:pt idx="3">
                  <c:v>1103</c:v>
                </c:pt>
                <c:pt idx="4">
                  <c:v>1125</c:v>
                </c:pt>
                <c:pt idx="5">
                  <c:v>1147</c:v>
                </c:pt>
                <c:pt idx="6">
                  <c:v>1169</c:v>
                </c:pt>
                <c:pt idx="7">
                  <c:v>1191</c:v>
                </c:pt>
                <c:pt idx="8">
                  <c:v>1213</c:v>
                </c:pt>
                <c:pt idx="9">
                  <c:v>1235</c:v>
                </c:pt>
                <c:pt idx="10">
                  <c:v>1257</c:v>
                </c:pt>
                <c:pt idx="11">
                  <c:v>1279</c:v>
                </c:pt>
                <c:pt idx="12">
                  <c:v>1301</c:v>
                </c:pt>
                <c:pt idx="13">
                  <c:v>1323</c:v>
                </c:pt>
                <c:pt idx="14">
                  <c:v>1345</c:v>
                </c:pt>
                <c:pt idx="15">
                  <c:v>1367</c:v>
                </c:pt>
                <c:pt idx="16">
                  <c:v>1389</c:v>
                </c:pt>
                <c:pt idx="17">
                  <c:v>1411</c:v>
                </c:pt>
                <c:pt idx="18">
                  <c:v>1434</c:v>
                </c:pt>
                <c:pt idx="19">
                  <c:v>1456</c:v>
                </c:pt>
                <c:pt idx="20">
                  <c:v>1478</c:v>
                </c:pt>
                <c:pt idx="21">
                  <c:v>1500</c:v>
                </c:pt>
              </c:numCache>
            </c:numRef>
          </c:val>
          <c:smooth val="0"/>
        </c:ser>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rot="-2700000"/>
          <a:lstStyle/>
          <a:p>
            <a:pPr>
              <a:defRPr sz="11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min val="100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65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Extreme-rain days per district per year (heaviest 5% of rainy days)</a:t>
            </a:r>
          </a:p>
        </c:rich>
      </c:tx>
      <c:layout/>
      <c:overlay val="0"/>
    </c:title>
    <c:autoTitleDeleted val="0"/>
    <c:plotArea>
      <c:layout/>
      <c:barChart>
        <c:barDir val="col"/>
        <c:grouping val="stacked"/>
        <c:varyColors val="0"/>
        <c:ser>
          <c:idx val="0"/>
          <c:order val="0"/>
          <c:tx>
            <c:strRef>
              <c:f>Sheet1!$B$1</c:f>
              <c:strCache>
                <c:ptCount val="1"/>
                <c:pt idx="0">
                  <c:v>Baseline 2004-2019</c:v>
                </c:pt>
              </c:strCache>
            </c:strRef>
          </c:tx>
          <c:spPr>
            <a:solidFill>
              <a:srgbClr val="76879A"/>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cat>
            <c:multiLvlStrRef>
              <c:f>Sheet1!$A$2:$A$23</c:f>
              <c:multiLvlStrCache>
                <c:ptCount val="22"/>
                <c:lvl>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pt idx="18">
                    <c:v>2022</c:v>
                  </c:pt>
                  <c:pt idx="19">
                    <c:v>2023</c:v>
                  </c:pt>
                  <c:pt idx="20">
                    <c:v>2024</c:v>
                  </c:pt>
                  <c:pt idx="21">
                    <c:v>2025</c:v>
                  </c:pt>
                </c:lvl>
              </c:multiLvlStrCache>
            </c:multiLvlStrRef>
          </c:cat>
          <c:val>
            <c:numRef>
              <c:f>Sheet1!$B$2:$B$23</c:f>
              <c:numCache>
                <c:formatCode>General</c:formatCode>
                <c:ptCount val="22"/>
                <c:pt idx="0">
                  <c:v>5.8</c:v>
                </c:pt>
                <c:pt idx="1">
                  <c:v>5</c:v>
                </c:pt>
                <c:pt idx="2">
                  <c:v>5.8</c:v>
                </c:pt>
                <c:pt idx="3">
                  <c:v>6.1</c:v>
                </c:pt>
                <c:pt idx="4">
                  <c:v>7</c:v>
                </c:pt>
                <c:pt idx="5">
                  <c:v>5.9</c:v>
                </c:pt>
                <c:pt idx="6">
                  <c:v>6.9</c:v>
                </c:pt>
                <c:pt idx="7">
                  <c:v>7.2</c:v>
                </c:pt>
                <c:pt idx="8">
                  <c:v>5.6</c:v>
                </c:pt>
                <c:pt idx="9">
                  <c:v>8.8</c:v>
                </c:pt>
                <c:pt idx="10">
                  <c:v>6.4</c:v>
                </c:pt>
                <c:pt idx="11">
                  <c:v>5.5</c:v>
                </c:pt>
                <c:pt idx="12">
                  <c:v>4</c:v>
                </c:pt>
                <c:pt idx="13">
                  <c:v>4.7</c:v>
                </c:pt>
                <c:pt idx="14">
                  <c:v>5.4</c:v>
                </c:pt>
                <c:pt idx="15">
                  <c:v>5.8</c:v>
                </c:pt>
                <c:pt idx="16">
                  <c:v>0</c:v>
                </c:pt>
                <c:pt idx="17">
                  <c:v>0</c:v>
                </c:pt>
                <c:pt idx="18">
                  <c:v>0</c:v>
                </c:pt>
                <c:pt idx="19">
                  <c:v>0</c:v>
                </c:pt>
                <c:pt idx="20">
                  <c:v>0</c:v>
                </c:pt>
                <c:pt idx="21">
                  <c:v>0</c:v>
                </c:pt>
              </c:numCache>
            </c:numRef>
          </c:val>
        </c:ser>
        <c:ser>
          <c:idx val="1"/>
          <c:order val="1"/>
          <c:tx>
            <c:strRef>
              <c:f>Sheet1!$C$1</c:f>
              <c:strCache>
                <c:ptCount val="1"/>
                <c:pt idx="0">
                  <c:v>Recent 2020-2025</c:v>
                </c:pt>
              </c:strCache>
            </c:strRef>
          </c:tx>
          <c:spPr>
            <a:solidFill>
              <a:srgbClr val="0072B2"/>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cat>
            <c:multiLvlStrRef>
              <c:f>Sheet1!$A$2:$A$23</c:f>
              <c:multiLvlStrCache>
                <c:ptCount val="22"/>
                <c:lvl>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pt idx="18">
                    <c:v>2022</c:v>
                  </c:pt>
                  <c:pt idx="19">
                    <c:v>2023</c:v>
                  </c:pt>
                  <c:pt idx="20">
                    <c:v>2024</c:v>
                  </c:pt>
                  <c:pt idx="21">
                    <c:v>2025</c:v>
                  </c:pt>
                </c:lvl>
              </c:multiLvlStrCache>
            </c:multiLvlStrRef>
          </c:cat>
          <c:val>
            <c:numRef>
              <c:f>Sheet1!$C$2:$C$23</c:f>
              <c:numCache>
                <c:formatCode>General</c:formatCode>
                <c:ptCount val="2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9.6</c:v>
                </c:pt>
                <c:pt idx="17">
                  <c:v>11.6</c:v>
                </c:pt>
                <c:pt idx="18">
                  <c:v>7.3</c:v>
                </c:pt>
                <c:pt idx="19">
                  <c:v>6.5</c:v>
                </c:pt>
                <c:pt idx="20">
                  <c:v>11.9</c:v>
                </c:pt>
                <c:pt idx="21">
                  <c:v>6.5</c:v>
                </c:pt>
              </c:numCache>
            </c:numRef>
          </c:val>
        </c:ser>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rot="-2700000"/>
          <a:lstStyle/>
          <a:p>
            <a:pPr>
              <a:defRPr sz="11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65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Each dot is a district (scores 0-100)</a:t>
            </a:r>
          </a:p>
        </c:rich>
      </c:tx>
      <c:layout/>
      <c:overlay val="0"/>
    </c:title>
    <c:autoTitleDeleted val="0"/>
    <c:plotArea>
      <c:layout/>
      <c:scatterChart>
        <c:scatterStyle val="lineMarker"/>
        <c:varyColors val="0"/>
        <c:ser>
          <c:idx val="0"/>
          <c:order val="0"/>
          <c:tx>
            <c:strRef>
              <c:f>Sheet1!$B$1</c:f>
              <c:strCache>
                <c:ptCount val="1"/>
                <c:pt idx="0">
                  <c:v>Other districts</c:v>
                </c:pt>
              </c:strCache>
            </c:strRef>
          </c:tx>
          <c:spPr>
            <a:solidFill>
              <a:srgbClr val="76879A"/>
            </a:solidFill>
            <a:ln>
              <a:noFill/>
            </a:ln>
            <a:effectLst/>
          </c:spPr>
          <c:marker>
            <c:symbol val="circle"/>
            <c:size val="9"/>
            <c:spPr>
              <a:solidFill>
                <a:srgbClr val="76879A"/>
              </a:solidFill>
              <a:ln w="9525" cap="flat">
                <a:solidFill>
                  <a:srgbClr val="76879A"/>
                </a:solidFill>
                <a:prstDash val="solid"/>
                <a:round/>
              </a:ln>
              <a:effectLst/>
            </c:spPr>
          </c:marker>
          <c:xVal>
            <c:numRef>
              <c:f>Sheet1!$A$2:$A$78</c:f>
              <c:numCache>
                <c:formatCode>General</c:formatCode>
                <c:ptCount val="77"/>
                <c:pt idx="0">
                  <c:v>29.6</c:v>
                </c:pt>
                <c:pt idx="1">
                  <c:v>18.7</c:v>
                </c:pt>
                <c:pt idx="2">
                  <c:v>44.5</c:v>
                </c:pt>
                <c:pt idx="3">
                  <c:v>22.6</c:v>
                </c:pt>
                <c:pt idx="4">
                  <c:v>72.8</c:v>
                </c:pt>
                <c:pt idx="5">
                  <c:v>57.8</c:v>
                </c:pt>
                <c:pt idx="6">
                  <c:v>7.9</c:v>
                </c:pt>
                <c:pt idx="7">
                  <c:v>5.3</c:v>
                </c:pt>
                <c:pt idx="8">
                  <c:v>9.6</c:v>
                </c:pt>
                <c:pt idx="9">
                  <c:v>7.1</c:v>
                </c:pt>
                <c:pt idx="10">
                  <c:v>35.7</c:v>
                </c:pt>
                <c:pt idx="11">
                  <c:v>15.1</c:v>
                </c:pt>
                <c:pt idx="12">
                  <c:v>27.3</c:v>
                </c:pt>
                <c:pt idx="13">
                  <c:v>29.6</c:v>
                </c:pt>
                <c:pt idx="14">
                  <c:v>15.6</c:v>
                </c:pt>
                <c:pt idx="15">
                  <c:v>81.1</c:v>
                </c:pt>
                <c:pt idx="16">
                  <c:v>25.5</c:v>
                </c:pt>
                <c:pt idx="17">
                  <c:v>2.1</c:v>
                </c:pt>
                <c:pt idx="18">
                  <c:v>75.7</c:v>
                </c:pt>
                <c:pt idx="19">
                  <c:v>44.5</c:v>
                </c:pt>
                <c:pt idx="20">
                  <c:v>30.8</c:v>
                </c:pt>
                <c:pt idx="21">
                  <c:v>19.2</c:v>
                </c:pt>
                <c:pt idx="22">
                  <c:v>37.4</c:v>
                </c:pt>
                <c:pt idx="23">
                  <c:v>50.9</c:v>
                </c:pt>
                <c:pt idx="24">
                  <c:v>0</c:v>
                </c:pt>
                <c:pt idx="25">
                  <c:v>38.4</c:v>
                </c:pt>
                <c:pt idx="26">
                  <c:v>20.9</c:v>
                </c:pt>
                <c:pt idx="27">
                  <c:v>8.3</c:v>
                </c:pt>
                <c:pt idx="28">
                  <c:v>8.3</c:v>
                </c:pt>
                <c:pt idx="29">
                  <c:v>94.4</c:v>
                </c:pt>
                <c:pt idx="30">
                  <c:v>14.9</c:v>
                </c:pt>
                <c:pt idx="31">
                  <c:v>24.3</c:v>
                </c:pt>
                <c:pt idx="32">
                  <c:v>35.5</c:v>
                </c:pt>
                <c:pt idx="33">
                  <c:v>21.2</c:v>
                </c:pt>
                <c:pt idx="34">
                  <c:v>78.3</c:v>
                </c:pt>
                <c:pt idx="35">
                  <c:v>5.2</c:v>
                </c:pt>
                <c:pt idx="36">
                  <c:v>29.8</c:v>
                </c:pt>
                <c:pt idx="37">
                  <c:v>47.3</c:v>
                </c:pt>
                <c:pt idx="38">
                  <c:v>18.4</c:v>
                </c:pt>
                <c:pt idx="39">
                  <c:v>51</c:v>
                </c:pt>
                <c:pt idx="40">
                  <c:v>86.2</c:v>
                </c:pt>
                <c:pt idx="41">
                  <c:v>17.2</c:v>
                </c:pt>
                <c:pt idx="42">
                  <c:v>8.1</c:v>
                </c:pt>
                <c:pt idx="43">
                  <c:v>42.7</c:v>
                </c:pt>
                <c:pt idx="44">
                  <c:v>36.9</c:v>
                </c:pt>
                <c:pt idx="45">
                  <c:v>15</c:v>
                </c:pt>
                <c:pt idx="46">
                  <c:v>39.1</c:v>
                </c:pt>
                <c:pt idx="47">
                  <c:v>28.4</c:v>
                </c:pt>
                <c:pt idx="48">
                  <c:v>5.6</c:v>
                </c:pt>
                <c:pt idx="49">
                  <c:v>28.8</c:v>
                </c:pt>
                <c:pt idx="50">
                  <c:v>75.2</c:v>
                </c:pt>
                <c:pt idx="51">
                  <c:v>2.4</c:v>
                </c:pt>
                <c:pt idx="52">
                  <c:v>28.3</c:v>
                </c:pt>
                <c:pt idx="53">
                  <c:v>55.2</c:v>
                </c:pt>
                <c:pt idx="54">
                  <c:v>6.1</c:v>
                </c:pt>
                <c:pt idx="55">
                  <c:v>21.4</c:v>
                </c:pt>
                <c:pt idx="56">
                  <c:v>1.2</c:v>
                </c:pt>
                <c:pt idx="57">
                  <c:v>3.3</c:v>
                </c:pt>
                <c:pt idx="58">
                  <c:v>22.3</c:v>
                </c:pt>
                <c:pt idx="59">
                  <c:v>71.3</c:v>
                </c:pt>
                <c:pt idx="60">
                  <c:v>2.8</c:v>
                </c:pt>
                <c:pt idx="61">
                  <c:v>80.9</c:v>
                </c:pt>
                <c:pt idx="62">
                  <c:v>8.9</c:v>
                </c:pt>
                <c:pt idx="63">
                  <c:v>22.1</c:v>
                </c:pt>
                <c:pt idx="64">
                  <c:v>16.6</c:v>
                </c:pt>
                <c:pt idx="65">
                  <c:v>11.1</c:v>
                </c:pt>
                <c:pt idx="66">
                  <c:v>86.3</c:v>
                </c:pt>
                <c:pt idx="67">
                  <c:v>30.8</c:v>
                </c:pt>
                <c:pt idx="68">
                  <c:v>23.5</c:v>
                </c:pt>
                <c:pt idx="69">
                  <c:v>61</c:v>
                </c:pt>
                <c:pt idx="70">
                  <c:v>100</c:v>
                </c:pt>
                <c:pt idx="71">
                  <c:v>53.2</c:v>
                </c:pt>
                <c:pt idx="72">
                  <c:v>41.4</c:v>
                </c:pt>
                <c:pt idx="73">
                  <c:v>60.9</c:v>
                </c:pt>
                <c:pt idx="74">
                  <c:v>70.6</c:v>
                </c:pt>
                <c:pt idx="75">
                  <c:v>52.5</c:v>
                </c:pt>
                <c:pt idx="76">
                  <c:v>85.3</c:v>
                </c:pt>
              </c:numCache>
            </c:numRef>
          </c:xVal>
          <c:yVal>
            <c:numRef>
              <c:f>Sheet1!$B$2:$B$78</c:f>
              <c:numCache>
                <c:formatCode>General</c:formatCode>
                <c:ptCount val="77"/>
                <c:pt idx="0">
                  <c:v>88.5</c:v>
                </c:pt>
                <c:pt idx="1">
                  <c:v>56.9</c:v>
                </c:pt>
                <c:pt idx="2">
                  <c:v>67.8</c:v>
                </c:pt>
                <c:pt idx="3">
                  <c:v>70.4</c:v>
                </c:pt>
                <c:pt idx="4">
                  <c:v>60.1</c:v>
                </c:pt>
                <c:pt idx="5">
                  <c:v>73.4</c:v>
                </c:pt>
                <c:pt idx="6">
                  <c:v>62.5</c:v>
                </c:pt>
                <c:pt idx="7">
                  <c:v>17.6</c:v>
                </c:pt>
                <c:pt idx="8">
                  <c:v>98.3</c:v>
                </c:pt>
                <c:pt idx="9">
                  <c:v>0</c:v>
                </c:pt>
                <c:pt idx="10">
                  <c:v>82.3</c:v>
                </c:pt>
                <c:pt idx="11">
                  <c:v>92.4</c:v>
                </c:pt>
                <c:pt idx="12">
                  <c:v>75.2</c:v>
                </c:pt>
                <c:pt idx="13">
                  <c:v>71.6</c:v>
                </c:pt>
                <c:pt idx="14">
                  <c:v>64.9</c:v>
                </c:pt>
                <c:pt idx="15">
                  <c:v>69.1</c:v>
                </c:pt>
                <c:pt idx="16">
                  <c:v>92.7</c:v>
                </c:pt>
                <c:pt idx="17">
                  <c:v>44.4</c:v>
                </c:pt>
                <c:pt idx="18">
                  <c:v>59.3</c:v>
                </c:pt>
                <c:pt idx="19">
                  <c:v>64.3</c:v>
                </c:pt>
                <c:pt idx="20">
                  <c:v>78.8</c:v>
                </c:pt>
                <c:pt idx="21">
                  <c:v>76.9</c:v>
                </c:pt>
                <c:pt idx="22">
                  <c:v>34.2</c:v>
                </c:pt>
                <c:pt idx="23">
                  <c:v>73.7</c:v>
                </c:pt>
                <c:pt idx="24">
                  <c:v>46.4</c:v>
                </c:pt>
                <c:pt idx="25">
                  <c:v>52.3</c:v>
                </c:pt>
                <c:pt idx="26">
                  <c:v>85.9</c:v>
                </c:pt>
                <c:pt idx="27">
                  <c:v>80.6</c:v>
                </c:pt>
                <c:pt idx="28">
                  <c:v>32.4</c:v>
                </c:pt>
                <c:pt idx="29">
                  <c:v>41.5</c:v>
                </c:pt>
                <c:pt idx="30">
                  <c:v>25.2</c:v>
                </c:pt>
                <c:pt idx="31">
                  <c:v>72.3</c:v>
                </c:pt>
                <c:pt idx="32">
                  <c:v>75</c:v>
                </c:pt>
                <c:pt idx="33">
                  <c:v>46.3</c:v>
                </c:pt>
                <c:pt idx="34">
                  <c:v>58.3</c:v>
                </c:pt>
                <c:pt idx="35">
                  <c:v>13.9</c:v>
                </c:pt>
                <c:pt idx="36">
                  <c:v>56.2</c:v>
                </c:pt>
                <c:pt idx="37">
                  <c:v>50.4</c:v>
                </c:pt>
                <c:pt idx="38">
                  <c:v>19.4</c:v>
                </c:pt>
                <c:pt idx="39">
                  <c:v>55.1</c:v>
                </c:pt>
                <c:pt idx="40">
                  <c:v>49.4</c:v>
                </c:pt>
                <c:pt idx="41">
                  <c:v>95.8</c:v>
                </c:pt>
                <c:pt idx="42">
                  <c:v>74.7</c:v>
                </c:pt>
                <c:pt idx="43">
                  <c:v>66.7</c:v>
                </c:pt>
                <c:pt idx="44">
                  <c:v>82.8</c:v>
                </c:pt>
                <c:pt idx="45">
                  <c:v>71.2</c:v>
                </c:pt>
                <c:pt idx="46">
                  <c:v>56.6</c:v>
                </c:pt>
                <c:pt idx="47">
                  <c:v>68.2</c:v>
                </c:pt>
                <c:pt idx="48">
                  <c:v>0</c:v>
                </c:pt>
                <c:pt idx="49">
                  <c:v>66.9</c:v>
                </c:pt>
                <c:pt idx="50">
                  <c:v>69.3</c:v>
                </c:pt>
                <c:pt idx="51">
                  <c:v>68.2</c:v>
                </c:pt>
                <c:pt idx="52">
                  <c:v>39.9</c:v>
                </c:pt>
                <c:pt idx="53">
                  <c:v>59.6</c:v>
                </c:pt>
                <c:pt idx="54">
                  <c:v>42.9</c:v>
                </c:pt>
                <c:pt idx="55">
                  <c:v>75.9</c:v>
                </c:pt>
                <c:pt idx="56">
                  <c:v>73.1</c:v>
                </c:pt>
                <c:pt idx="57">
                  <c:v>49</c:v>
                </c:pt>
                <c:pt idx="58">
                  <c:v>81.6</c:v>
                </c:pt>
                <c:pt idx="59">
                  <c:v>61.6</c:v>
                </c:pt>
                <c:pt idx="60">
                  <c:v>48</c:v>
                </c:pt>
                <c:pt idx="61">
                  <c:v>58.5</c:v>
                </c:pt>
                <c:pt idx="62">
                  <c:v>98.4</c:v>
                </c:pt>
                <c:pt idx="63">
                  <c:v>100</c:v>
                </c:pt>
                <c:pt idx="64">
                  <c:v>76.2</c:v>
                </c:pt>
                <c:pt idx="65">
                  <c:v>95.9</c:v>
                </c:pt>
                <c:pt idx="66">
                  <c:v>62.2</c:v>
                </c:pt>
                <c:pt idx="67">
                  <c:v>57.9</c:v>
                </c:pt>
                <c:pt idx="68">
                  <c:v>93.9</c:v>
                </c:pt>
                <c:pt idx="69">
                  <c:v/>
                </c:pt>
                <c:pt idx="70">
                  <c:v/>
                </c:pt>
                <c:pt idx="71">
                  <c:v/>
                </c:pt>
                <c:pt idx="72">
                  <c:v/>
                </c:pt>
                <c:pt idx="73">
                  <c:v/>
                </c:pt>
                <c:pt idx="74">
                  <c:v/>
                </c:pt>
                <c:pt idx="75">
                  <c:v/>
                </c:pt>
                <c:pt idx="76">
                  <c:v/>
                </c:pt>
              </c:numCache>
            </c:numRef>
          </c:yVal>
          <c:smooth val="0"/>
        </c:ser>
        <c:ser>
          <c:idx val="1"/>
          <c:order val="1"/>
          <c:tx>
            <c:strRef>
              <c:f>Sheet1!$C$1</c:f>
              <c:strCache>
                <c:ptCount val="1"/>
                <c:pt idx="0">
                  <c:v>Steep and on major rivers</c:v>
                </c:pt>
              </c:strCache>
            </c:strRef>
          </c:tx>
          <c:spPr>
            <a:solidFill>
              <a:srgbClr val="D55E00"/>
            </a:solidFill>
            <a:ln>
              <a:noFill/>
            </a:ln>
            <a:effectLst/>
          </c:spPr>
          <c:marker>
            <c:symbol val="circle"/>
            <c:size val="9"/>
            <c:spPr>
              <a:solidFill>
                <a:srgbClr val="D55E00"/>
              </a:solidFill>
              <a:ln w="9525" cap="flat">
                <a:solidFill>
                  <a:srgbClr val="D55E00"/>
                </a:solidFill>
                <a:prstDash val="solid"/>
                <a:round/>
              </a:ln>
              <a:effectLst/>
            </c:spPr>
          </c:marker>
          <c:xVal>
            <c:numRef>
              <c:f>Sheet1!$A$2:$A$78</c:f>
              <c:numCache>
                <c:formatCode>General</c:formatCode>
                <c:ptCount val="77"/>
                <c:pt idx="0">
                  <c:v>29.6</c:v>
                </c:pt>
                <c:pt idx="1">
                  <c:v>18.7</c:v>
                </c:pt>
                <c:pt idx="2">
                  <c:v>44.5</c:v>
                </c:pt>
                <c:pt idx="3">
                  <c:v>22.6</c:v>
                </c:pt>
                <c:pt idx="4">
                  <c:v>72.8</c:v>
                </c:pt>
                <c:pt idx="5">
                  <c:v>57.8</c:v>
                </c:pt>
                <c:pt idx="6">
                  <c:v>7.9</c:v>
                </c:pt>
                <c:pt idx="7">
                  <c:v>5.3</c:v>
                </c:pt>
                <c:pt idx="8">
                  <c:v>9.6</c:v>
                </c:pt>
                <c:pt idx="9">
                  <c:v>7.1</c:v>
                </c:pt>
                <c:pt idx="10">
                  <c:v>35.7</c:v>
                </c:pt>
                <c:pt idx="11">
                  <c:v>15.1</c:v>
                </c:pt>
                <c:pt idx="12">
                  <c:v>27.3</c:v>
                </c:pt>
                <c:pt idx="13">
                  <c:v>29.6</c:v>
                </c:pt>
                <c:pt idx="14">
                  <c:v>15.6</c:v>
                </c:pt>
                <c:pt idx="15">
                  <c:v>81.1</c:v>
                </c:pt>
                <c:pt idx="16">
                  <c:v>25.5</c:v>
                </c:pt>
                <c:pt idx="17">
                  <c:v>2.1</c:v>
                </c:pt>
                <c:pt idx="18">
                  <c:v>75.7</c:v>
                </c:pt>
                <c:pt idx="19">
                  <c:v>44.5</c:v>
                </c:pt>
                <c:pt idx="20">
                  <c:v>30.8</c:v>
                </c:pt>
                <c:pt idx="21">
                  <c:v>19.2</c:v>
                </c:pt>
                <c:pt idx="22">
                  <c:v>37.4</c:v>
                </c:pt>
                <c:pt idx="23">
                  <c:v>50.9</c:v>
                </c:pt>
                <c:pt idx="24">
                  <c:v>0</c:v>
                </c:pt>
                <c:pt idx="25">
                  <c:v>38.4</c:v>
                </c:pt>
                <c:pt idx="26">
                  <c:v>20.9</c:v>
                </c:pt>
                <c:pt idx="27">
                  <c:v>8.3</c:v>
                </c:pt>
                <c:pt idx="28">
                  <c:v>8.3</c:v>
                </c:pt>
                <c:pt idx="29">
                  <c:v>94.4</c:v>
                </c:pt>
                <c:pt idx="30">
                  <c:v>14.9</c:v>
                </c:pt>
                <c:pt idx="31">
                  <c:v>24.3</c:v>
                </c:pt>
                <c:pt idx="32">
                  <c:v>35.5</c:v>
                </c:pt>
                <c:pt idx="33">
                  <c:v>21.2</c:v>
                </c:pt>
                <c:pt idx="34">
                  <c:v>78.3</c:v>
                </c:pt>
                <c:pt idx="35">
                  <c:v>5.2</c:v>
                </c:pt>
                <c:pt idx="36">
                  <c:v>29.8</c:v>
                </c:pt>
                <c:pt idx="37">
                  <c:v>47.3</c:v>
                </c:pt>
                <c:pt idx="38">
                  <c:v>18.4</c:v>
                </c:pt>
                <c:pt idx="39">
                  <c:v>51</c:v>
                </c:pt>
                <c:pt idx="40">
                  <c:v>86.2</c:v>
                </c:pt>
                <c:pt idx="41">
                  <c:v>17.2</c:v>
                </c:pt>
                <c:pt idx="42">
                  <c:v>8.1</c:v>
                </c:pt>
                <c:pt idx="43">
                  <c:v>42.7</c:v>
                </c:pt>
                <c:pt idx="44">
                  <c:v>36.9</c:v>
                </c:pt>
                <c:pt idx="45">
                  <c:v>15</c:v>
                </c:pt>
                <c:pt idx="46">
                  <c:v>39.1</c:v>
                </c:pt>
                <c:pt idx="47">
                  <c:v>28.4</c:v>
                </c:pt>
                <c:pt idx="48">
                  <c:v>5.6</c:v>
                </c:pt>
                <c:pt idx="49">
                  <c:v>28.8</c:v>
                </c:pt>
                <c:pt idx="50">
                  <c:v>75.2</c:v>
                </c:pt>
                <c:pt idx="51">
                  <c:v>2.4</c:v>
                </c:pt>
                <c:pt idx="52">
                  <c:v>28.3</c:v>
                </c:pt>
                <c:pt idx="53">
                  <c:v>55.2</c:v>
                </c:pt>
                <c:pt idx="54">
                  <c:v>6.1</c:v>
                </c:pt>
                <c:pt idx="55">
                  <c:v>21.4</c:v>
                </c:pt>
                <c:pt idx="56">
                  <c:v>1.2</c:v>
                </c:pt>
                <c:pt idx="57">
                  <c:v>3.3</c:v>
                </c:pt>
                <c:pt idx="58">
                  <c:v>22.3</c:v>
                </c:pt>
                <c:pt idx="59">
                  <c:v>71.3</c:v>
                </c:pt>
                <c:pt idx="60">
                  <c:v>2.8</c:v>
                </c:pt>
                <c:pt idx="61">
                  <c:v>80.9</c:v>
                </c:pt>
                <c:pt idx="62">
                  <c:v>8.9</c:v>
                </c:pt>
                <c:pt idx="63">
                  <c:v>22.1</c:v>
                </c:pt>
                <c:pt idx="64">
                  <c:v>16.6</c:v>
                </c:pt>
                <c:pt idx="65">
                  <c:v>11.1</c:v>
                </c:pt>
                <c:pt idx="66">
                  <c:v>86.3</c:v>
                </c:pt>
                <c:pt idx="67">
                  <c:v>30.8</c:v>
                </c:pt>
                <c:pt idx="68">
                  <c:v>23.5</c:v>
                </c:pt>
                <c:pt idx="69">
                  <c:v>61</c:v>
                </c:pt>
                <c:pt idx="70">
                  <c:v>100</c:v>
                </c:pt>
                <c:pt idx="71">
                  <c:v>53.2</c:v>
                </c:pt>
                <c:pt idx="72">
                  <c:v>41.4</c:v>
                </c:pt>
                <c:pt idx="73">
                  <c:v>60.9</c:v>
                </c:pt>
                <c:pt idx="74">
                  <c:v>70.6</c:v>
                </c:pt>
                <c:pt idx="75">
                  <c:v>52.5</c:v>
                </c:pt>
                <c:pt idx="76">
                  <c:v>85.3</c:v>
                </c:pt>
              </c:numCache>
            </c:numRef>
          </c:xVal>
          <c:yVal>
            <c:numRef>
              <c:f>Sheet1!$C$2:$C$78</c:f>
              <c:numCache>
                <c:formatCode>General</c:formatCode>
                <c:ptCount val="77"/>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78.5</c:v>
                </c:pt>
                <c:pt idx="70">
                  <c:v>78</c:v>
                </c:pt>
                <c:pt idx="71">
                  <c:v>79.9</c:v>
                </c:pt>
                <c:pt idx="72">
                  <c:v>82.4</c:v>
                </c:pt>
                <c:pt idx="73">
                  <c:v>81.3</c:v>
                </c:pt>
                <c:pt idx="74">
                  <c:v>77.7</c:v>
                </c:pt>
                <c:pt idx="75">
                  <c:v>77.8</c:v>
                </c:pt>
                <c:pt idx="76">
                  <c:v>79.4</c:v>
                </c:pt>
              </c:numCache>
            </c:numRef>
          </c:yVal>
          <c:smooth val="0"/>
        </c:ser>
        <c:dLbls>
          <c:numFmt formatCode="General"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200" b="0" i="0" u="none" strike="noStrike">
                    <a:solidFill>
                      <a:srgbClr val="526579"/>
                    </a:solidFill>
                    <a:latin typeface="+mn-lt"/>
                  </a:defRPr>
                </a:pPr>
                <a:r>
                  <a:rPr sz="1200" b="0" i="0" u="none" strike="noStrike">
                    <a:solidFill>
                      <a:srgbClr val="526579"/>
                    </a:solidFill>
                    <a:latin typeface="+mn-lt"/>
                  </a:rPr>
                  <a:t>Terrain ruggedness</a:t>
                </a:r>
              </a:p>
            </c:rich>
          </c:tx>
          <c:layout/>
          <c:overlay val="0"/>
        </c:title>
        <c:numFmt formatCode="General" sourceLinked="1"/>
        <c:majorTickMark val="none"/>
        <c:minorTickMark val="none"/>
        <c:tickLblPos val="nextTo"/>
        <c:spPr>
          <a:ln w="12700" cap="flat">
            <a:solidFill>
              <a:srgbClr val="E2E8F0"/>
            </a:solidFill>
            <a:prstDash val="solid"/>
            <a:round/>
          </a:ln>
        </c:spPr>
        <c:txPr>
          <a:bodyPr/>
          <a:lstStyle/>
          <a:p>
            <a:pPr>
              <a:defRPr sz="1100" b="0" i="0" u="none" strike="noStrike">
                <a:solidFill>
                  <a:srgbClr val="526579"/>
                </a:solidFill>
                <a:latin typeface="+mn-lt"/>
              </a:defRPr>
            </a:pPr>
            <a:endParaRPr lang="en-US"/>
          </a:p>
        </c:txPr>
        <c:crossAx val="2094734552"/>
        <c:crosses val="autoZero"/>
        <c:auto val="1"/>
        <c:lblAlgn val="ctr"/>
        <c:noMultiLvlLbl val="1"/>
      </c:valAx>
      <c:valAx>
        <c:axId val="2094734552"/>
        <c:scaling>
          <c:orientation val="minMax"/>
          <c:max val="100"/>
          <c:min val="0"/>
        </c:scaling>
        <c:delete val="0"/>
        <c:axPos val="l"/>
        <c:majorGridlines>
          <c:spPr>
            <a:ln w="9525" cap="flat">
              <a:solidFill>
                <a:srgbClr val="E2E8F0"/>
              </a:solidFill>
              <a:prstDash val="solid"/>
              <a:round/>
            </a:ln>
          </c:spPr>
        </c:majorGridlines>
        <c:title>
          <c:tx>
            <c:rich>
              <a:bodyPr/>
              <a:lstStyle/>
              <a:p>
                <a:pPr>
                  <a:defRPr sz="1200" b="0" i="0" u="none" strike="noStrike">
                    <a:solidFill>
                      <a:srgbClr val="526579"/>
                    </a:solidFill>
                    <a:latin typeface="+mn-lt"/>
                  </a:defRPr>
                </a:pPr>
                <a:r>
                  <a:rPr sz="1200" b="0" i="0" u="none" strike="noStrike">
                    <a:solidFill>
                      <a:srgbClr val="526579"/>
                    </a:solidFill>
                    <a:latin typeface="+mn-lt"/>
                  </a:rPr>
                  <a:t>River size x closeness</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100">
              <a:solidFill>
                <a:srgbClr val="52657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Exposure score: people and critical assets (top 8)</a:t>
            </a:r>
          </a:p>
        </c:rich>
      </c:tx>
      <c:layout/>
      <c:overlay val="0"/>
    </c:title>
    <c:autoTitleDeleted val="0"/>
    <c:plotArea>
      <c:layout/>
      <c:barChart>
        <c:barDir val="bar"/>
        <c:grouping val="clustered"/>
        <c:varyColors val="0"/>
        <c:ser>
          <c:idx val="0"/>
          <c:order val="0"/>
          <c:tx>
            <c:strRef>
              <c:f>Sheet1!$B$1</c:f>
              <c:strCache>
                <c:ptCount val="1"/>
                <c:pt idx="0">
                  <c:v>Exposure</c:v>
                </c:pt>
              </c:strCache>
            </c:strRef>
          </c:tx>
          <c:spPr>
            <a:solidFill>
              <a:srgbClr val="0072B2"/>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Sheet1!$A$2:$A$9</c:f>
              <c:multiLvlStrCache>
                <c:ptCount val="8"/>
                <c:lvl>
                  <c:pt idx="0">
                    <c:v>Kathmandu</c:v>
                  </c:pt>
                  <c:pt idx="1">
                    <c:v>Kaski</c:v>
                  </c:pt>
                  <c:pt idx="2">
                    <c:v>Lalitpur</c:v>
                  </c:pt>
                  <c:pt idx="3">
                    <c:v>Rupandehi</c:v>
                  </c:pt>
                  <c:pt idx="4">
                    <c:v>Makwanpur</c:v>
                  </c:pt>
                  <c:pt idx="5">
                    <c:v>Parasi</c:v>
                  </c:pt>
                  <c:pt idx="6">
                    <c:v>Syangja</c:v>
                  </c:pt>
                  <c:pt idx="7">
                    <c:v>Dolakha</c:v>
                  </c:pt>
                </c:lvl>
              </c:multiLvlStrCache>
            </c:multiLvlStrRef>
          </c:cat>
          <c:val>
            <c:numRef>
              <c:f>Sheet1!$B$2:$B$9</c:f>
              <c:numCache>
                <c:formatCode>General</c:formatCode>
                <c:ptCount val="8"/>
                <c:pt idx="0">
                  <c:v>100</c:v>
                </c:pt>
                <c:pt idx="1">
                  <c:v>91.2</c:v>
                </c:pt>
                <c:pt idx="2">
                  <c:v>83.3</c:v>
                </c:pt>
                <c:pt idx="3">
                  <c:v>82.5</c:v>
                </c:pt>
                <c:pt idx="4">
                  <c:v>82.4</c:v>
                </c:pt>
                <c:pt idx="5">
                  <c:v>80.5</c:v>
                </c:pt>
                <c:pt idx="6">
                  <c:v>79.7</c:v>
                </c:pt>
                <c:pt idx="7">
                  <c:v>76.7</c:v>
                </c:pt>
              </c:numCache>
            </c:numRef>
          </c:val>
        </c:ser>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2E8F0"/>
            </a:solidFill>
            <a:prstDash val="solid"/>
            <a:round/>
          </a:ln>
        </c:spPr>
        <c:txPr>
          <a:bodyPr/>
          <a:lstStyle/>
          <a:p>
            <a:pPr>
              <a:defRPr sz="12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Vulnerability score: weak road and hospital access (top 8)</a:t>
            </a:r>
          </a:p>
        </c:rich>
      </c:tx>
      <c:layout/>
      <c:overlay val="0"/>
    </c:title>
    <c:autoTitleDeleted val="0"/>
    <c:plotArea>
      <c:layout/>
      <c:barChart>
        <c:barDir val="bar"/>
        <c:grouping val="clustered"/>
        <c:varyColors val="0"/>
        <c:ser>
          <c:idx val="0"/>
          <c:order val="0"/>
          <c:tx>
            <c:strRef>
              <c:f>Sheet1!$B$1</c:f>
              <c:strCache>
                <c:ptCount val="1"/>
                <c:pt idx="0">
                  <c:v>Vulnerability</c:v>
                </c:pt>
              </c:strCache>
            </c:strRef>
          </c:tx>
          <c:spPr>
            <a:solidFill>
              <a:srgbClr val="0072B2"/>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Sheet1!$A$2:$A$9</c:f>
              <c:multiLvlStrCache>
                <c:ptCount val="8"/>
                <c:lvl>
                  <c:pt idx="0">
                    <c:v>Taplejung</c:v>
                  </c:pt>
                  <c:pt idx="1">
                    <c:v>Darchula</c:v>
                  </c:pt>
                  <c:pt idx="2">
                    <c:v>Bajura</c:v>
                  </c:pt>
                  <c:pt idx="3">
                    <c:v>Sankhuwasabha</c:v>
                  </c:pt>
                  <c:pt idx="4">
                    <c:v>Khotang</c:v>
                  </c:pt>
                  <c:pt idx="5">
                    <c:v>Myagdi</c:v>
                  </c:pt>
                  <c:pt idx="6">
                    <c:v>Rukum East</c:v>
                  </c:pt>
                  <c:pt idx="7">
                    <c:v>Bardiya</c:v>
                  </c:pt>
                </c:lvl>
              </c:multiLvlStrCache>
            </c:multiLvlStrRef>
          </c:cat>
          <c:val>
            <c:numRef>
              <c:f>Sheet1!$B$2:$B$9</c:f>
              <c:numCache>
                <c:formatCode>General</c:formatCode>
                <c:ptCount val="8"/>
                <c:pt idx="0">
                  <c:v>100</c:v>
                </c:pt>
                <c:pt idx="1">
                  <c:v>99.4</c:v>
                </c:pt>
                <c:pt idx="2">
                  <c:v>82.9</c:v>
                </c:pt>
                <c:pt idx="3">
                  <c:v>82</c:v>
                </c:pt>
                <c:pt idx="4">
                  <c:v>81.9</c:v>
                </c:pt>
                <c:pt idx="5">
                  <c:v>81.1</c:v>
                </c:pt>
                <c:pt idx="6">
                  <c:v>77.8</c:v>
                </c:pt>
                <c:pt idx="7">
                  <c:v>75.1</c:v>
                </c:pt>
              </c:numCache>
            </c:numRef>
          </c:val>
        </c:ser>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2E8F0"/>
            </a:solidFill>
            <a:prstDash val="solid"/>
            <a:round/>
          </a:ln>
        </c:spPr>
        <c:txPr>
          <a:bodyPr/>
          <a:lstStyle/>
          <a:p>
            <a:pPr>
              <a:defRPr sz="12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Combined risk score (0-100)</a:t>
            </a:r>
          </a:p>
        </c:rich>
      </c:tx>
      <c:layout/>
      <c:overlay val="0"/>
    </c:title>
    <c:autoTitleDeleted val="0"/>
    <c:plotArea>
      <c:layout/>
      <c:barChart>
        <c:barDir val="bar"/>
        <c:grouping val="clustered"/>
        <c:varyColors val="0"/>
        <c:ser>
          <c:idx val="0"/>
          <c:order val="0"/>
          <c:tx>
            <c:strRef>
              <c:f>Sheet1!$B$1</c:f>
              <c:strCache>
                <c:ptCount val="1"/>
                <c:pt idx="0">
                  <c:v>Risk</c:v>
                </c:pt>
              </c:strCache>
            </c:strRef>
          </c:tx>
          <c:spPr>
            <a:solidFill>
              <a:srgbClr val="0072B2"/>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Sheet1!$A$2:$A$11</c:f>
              <c:multiLvlStrCache>
                <c:ptCount val="10"/>
                <c:lvl>
                  <c:pt idx="0">
                    <c:v>Myagdi</c:v>
                  </c:pt>
                  <c:pt idx="1">
                    <c:v>Darchula</c:v>
                  </c:pt>
                  <c:pt idx="2">
                    <c:v>Taplejung</c:v>
                  </c:pt>
                  <c:pt idx="3">
                    <c:v>Sankhuwasabha</c:v>
                  </c:pt>
                  <c:pt idx="4">
                    <c:v>Pyuthan</c:v>
                  </c:pt>
                  <c:pt idx="5">
                    <c:v>Bardiya</c:v>
                  </c:pt>
                  <c:pt idx="6">
                    <c:v>Gorkha</c:v>
                  </c:pt>
                  <c:pt idx="7">
                    <c:v>Kaski</c:v>
                  </c:pt>
                  <c:pt idx="8">
                    <c:v>Sunsari</c:v>
                  </c:pt>
                  <c:pt idx="9">
                    <c:v>Doti</c:v>
                  </c:pt>
                </c:lvl>
              </c:multiLvlStrCache>
            </c:multiLvlStrRef>
          </c:cat>
          <c:val>
            <c:numRef>
              <c:f>Sheet1!$B$2:$B$11</c:f>
              <c:numCache>
                <c:formatCode>General</c:formatCode>
                <c:ptCount val="10"/>
                <c:pt idx="0">
                  <c:v>100</c:v>
                </c:pt>
                <c:pt idx="1">
                  <c:v>94.7</c:v>
                </c:pt>
                <c:pt idx="2">
                  <c:v>92.6</c:v>
                </c:pt>
                <c:pt idx="3">
                  <c:v>88.6</c:v>
                </c:pt>
                <c:pt idx="4">
                  <c:v>87.1</c:v>
                </c:pt>
                <c:pt idx="5">
                  <c:v>87</c:v>
                </c:pt>
                <c:pt idx="6">
                  <c:v>85.4</c:v>
                </c:pt>
                <c:pt idx="7">
                  <c:v>81.9</c:v>
                </c:pt>
                <c:pt idx="8">
                  <c:v>81.1</c:v>
                </c:pt>
                <c:pt idx="9">
                  <c:v>80.4</c:v>
                </c:pt>
              </c:numCache>
            </c:numRef>
          </c:val>
        </c:ser>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2E8F0"/>
            </a:solidFill>
            <a:prstDash val="solid"/>
            <a:round/>
          </a:ln>
        </c:spPr>
        <c:txPr>
          <a:bodyPr/>
          <a:lstStyle/>
          <a:p>
            <a:pPr>
              <a:defRPr sz="12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max val="112"/>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Correlation with recorded flood events (ρ)</a:t>
            </a:r>
          </a:p>
        </c:rich>
      </c:tx>
      <c:layout/>
      <c:overlay val="0"/>
    </c:title>
    <c:autoTitleDeleted val="0"/>
    <c:plotArea>
      <c:layout/>
      <c:barChart>
        <c:barDir val="bar"/>
        <c:grouping val="clustered"/>
        <c:varyColors val="0"/>
        <c:ser>
          <c:idx val="0"/>
          <c:order val="0"/>
          <c:tx>
            <c:strRef>
              <c:f>Sheet1!$B$1</c:f>
              <c:strCache>
                <c:ptCount val="1"/>
                <c:pt idx="0">
                  <c:v>rho</c:v>
                </c:pt>
              </c:strCache>
            </c:strRef>
          </c:tx>
          <c:spPr>
            <a:solidFill>
              <a:srgbClr val="0072B2"/>
            </a:solidFill>
            <a:effectLst/>
          </c:spPr>
          <c:invertIfNegative val="0"/>
          <c:dLbls>
            <c:numFmt formatCode="+0.00;-0.0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Sheet1!$A$2:$A$5</c:f>
              <c:multiLvlStrCache>
                <c:ptCount val="4"/>
                <c:lvl>
                  <c:pt idx="0">
                    <c:v>Flood hazard score</c:v>
                  </c:pt>
                  <c:pt idx="1">
                    <c:v>Terrain ruggedness</c:v>
                  </c:pt>
                  <c:pt idx="2">
                    <c:v>Road density</c:v>
                  </c:pt>
                  <c:pt idx="3">
                    <c:v>Exposure score</c:v>
                  </c:pt>
                </c:lvl>
              </c:multiLvlStrCache>
            </c:multiLvlStrRef>
          </c:cat>
          <c:val>
            <c:numRef>
              <c:f>Sheet1!$B$2:$B$5</c:f>
              <c:numCache>
                <c:formatCode>General</c:formatCode>
                <c:ptCount val="4"/>
                <c:pt idx="0">
                  <c:v>-0.08</c:v>
                </c:pt>
                <c:pt idx="1">
                  <c:v>-0.26</c:v>
                </c:pt>
                <c:pt idx="2">
                  <c:v>0.32</c:v>
                </c:pt>
                <c:pt idx="3">
                  <c:v>0.38</c:v>
                </c:pt>
              </c:numCache>
            </c:numRef>
          </c:val>
        </c:ser>
        <c:dLbls>
          <c:numFmt formatCode="+0.00;-0.0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E2E8F0"/>
            </a:solidFill>
            <a:prstDash val="solid"/>
            <a:round/>
          </a:ln>
        </c:spPr>
        <c:txPr>
          <a:bodyPr/>
          <a:lstStyle/>
          <a:p>
            <a:pPr>
              <a:defRPr sz="12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max val="0.5"/>
          <c:min val="-0.5"/>
        </c:scaling>
        <c:delete val="0"/>
        <c:axPos val="b"/>
        <c:majorGridlines>
          <c:spPr>
            <a:ln w="9525" cap="flat">
              <a:solidFill>
                <a:srgbClr val="E2E8F0"/>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Recorded disaster events per year (BIPAD)</a:t>
            </a:r>
          </a:p>
        </c:rich>
      </c:tx>
      <c:layout/>
      <c:overlay val="0"/>
    </c:title>
    <c:autoTitleDeleted val="0"/>
    <c:plotArea>
      <c:layout/>
      <c:barChart>
        <c:barDir val="col"/>
        <c:grouping val="stacked"/>
        <c:varyColors val="0"/>
        <c:ser>
          <c:idx val="0"/>
          <c:order val="0"/>
          <c:tx>
            <c:strRef>
              <c:f>Sheet1!$B$1</c:f>
              <c:strCache>
                <c:ptCount val="1"/>
                <c:pt idx="0">
                  <c:v>2011-2023</c:v>
                </c:pt>
              </c:strCache>
            </c:strRef>
          </c:tx>
          <c:spPr>
            <a:solidFill>
              <a:srgbClr val="76879A"/>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cat>
            <c:multiLvlStrRef>
              <c:f>Sheet1!$A$2:$A$17</c:f>
              <c:multiLvlStrCache>
                <c:ptCount val="16"/>
                <c:lvl>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lvl>
              </c:multiLvlStrCache>
            </c:multiLvlStrRef>
          </c:cat>
          <c:val>
            <c:numRef>
              <c:f>Sheet1!$B$2:$B$17</c:f>
              <c:numCache>
                <c:formatCode>General</c:formatCode>
                <c:ptCount val="16"/>
                <c:pt idx="0">
                  <c:v>464</c:v>
                </c:pt>
                <c:pt idx="1">
                  <c:v>268</c:v>
                </c:pt>
                <c:pt idx="2">
                  <c:v>420</c:v>
                </c:pt>
                <c:pt idx="3">
                  <c:v>162</c:v>
                </c:pt>
                <c:pt idx="4">
                  <c:v>80</c:v>
                </c:pt>
                <c:pt idx="5">
                  <c:v>561</c:v>
                </c:pt>
                <c:pt idx="6">
                  <c:v>569</c:v>
                </c:pt>
                <c:pt idx="7">
                  <c:v>645</c:v>
                </c:pt>
                <c:pt idx="8">
                  <c:v>762</c:v>
                </c:pt>
                <c:pt idx="9">
                  <c:v>943</c:v>
                </c:pt>
                <c:pt idx="10">
                  <c:v>851</c:v>
                </c:pt>
                <c:pt idx="11">
                  <c:v>554</c:v>
                </c:pt>
                <c:pt idx="12">
                  <c:v>825</c:v>
                </c:pt>
                <c:pt idx="13">
                  <c:v>0</c:v>
                </c:pt>
                <c:pt idx="14">
                  <c:v>0</c:v>
                </c:pt>
                <c:pt idx="15">
                  <c:v>0</c:v>
                </c:pt>
              </c:numCache>
            </c:numRef>
          </c:val>
        </c:ser>
        <c:ser>
          <c:idx val="1"/>
          <c:order val="1"/>
          <c:tx>
            <c:strRef>
              <c:f>Sheet1!$C$1</c:f>
              <c:strCache>
                <c:ptCount val="1"/>
                <c:pt idx="0">
                  <c:v>2024-2026</c:v>
                </c:pt>
              </c:strCache>
            </c:strRef>
          </c:tx>
          <c:spPr>
            <a:solidFill>
              <a:srgbClr val="0072B2"/>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cat>
            <c:multiLvlStrRef>
              <c:f>Sheet1!$A$2:$A$17</c:f>
              <c:multiLvlStrCache>
                <c:ptCount val="16"/>
                <c:lvl>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lvl>
              </c:multiLvlStrCache>
            </c:multiLvlStrRef>
          </c:cat>
          <c:val>
            <c:numRef>
              <c:f>Sheet1!$C$2:$C$17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1964</c:v>
                </c:pt>
                <c:pt idx="14">
                  <c:v>1362</c:v>
                </c:pt>
                <c:pt idx="15">
                  <c:v>1911</c:v>
                </c:pt>
              </c:numCache>
            </c:numRef>
          </c:val>
        </c:ser>
        <c:dLbls>
          <c:numFmt formatCode="#,##0" sourceLinked="0"/>
          <c:txPr>
            <a:bodyPr/>
            <a:lstStyle/>
            <a:p>
              <a:pPr>
                <a:defRPr b="0" i="0" strike="noStrike" sz="1100" u="none">
                  <a:solidFill>
                    <a:srgbClr val="334155"/>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rot="-2700000"/>
          <a:lstStyle/>
          <a:p>
            <a:pPr>
              <a:defRPr sz="11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2B49"/>
                </a:solidFill>
                <a:latin typeface="+mn-lt"/>
              </a:defRPr>
            </a:pPr>
            <a:r>
              <a:rPr sz="1300" b="0" i="0" u="none" strike="noStrike">
                <a:solidFill>
                  <a:srgbClr val="112B49"/>
                </a:solidFill>
                <a:latin typeface="+mn-lt"/>
              </a:rPr>
              <a:t>Allocation (USD million)</a:t>
            </a:r>
          </a:p>
        </c:rich>
      </c:tx>
      <c:layout/>
      <c:overlay val="0"/>
    </c:title>
    <c:autoTitleDeleted val="0"/>
    <c:plotArea>
      <c:layout/>
      <c:barChart>
        <c:barDir val="bar"/>
        <c:grouping val="clustered"/>
        <c:varyColors val="0"/>
        <c:ser>
          <c:idx val="0"/>
          <c:order val="0"/>
          <c:tx>
            <c:strRef>
              <c:f>Sheet1!$B$1</c:f>
              <c:strCache>
                <c:ptCount val="1"/>
                <c:pt idx="0">
                  <c:v>USD M</c:v>
                </c:pt>
              </c:strCache>
            </c:strRef>
          </c:tx>
          <c:spPr>
            <a:solidFill>
              <a:srgbClr val="0072B2"/>
            </a:solidFill>
            <a:effectLst/>
          </c:spPr>
          <c:invertIfNegative val="0"/>
          <c:dLbls>
            <c:numFmt formatCode="&quot;$&quot;0&quot;M&quot;"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Sheet1!$A$2:$A$7</c:f>
              <c:multiLvlStrCache>
                <c:ptCount val="6"/>
                <c:lvl>
                  <c:pt idx="0">
                    <c:v>Terrain &amp; glacial monitoring</c:v>
                  </c:pt>
                  <c:pt idx="1">
                    <c:v>Infrastructure reinforcement</c:v>
                  </c:pt>
                  <c:pt idx="2">
                    <c:v>Landslide early warning</c:v>
                  </c:pt>
                  <c:pt idx="3">
                    <c:v>Community preparedness</c:v>
                  </c:pt>
                  <c:pt idx="4">
                    <c:v>Data infrastructure</c:v>
                  </c:pt>
                  <c:pt idx="5">
                    <c:v>Flood early warning</c:v>
                  </c:pt>
                </c:lvl>
              </c:multiLvlStrCache>
            </c:multiLvlStrRef>
          </c:cat>
          <c:val>
            <c:numRef>
              <c:f>Sheet1!$B$2:$B$7</c:f>
              <c:numCache>
                <c:formatCode>General</c:formatCode>
                <c:ptCount val="6"/>
                <c:pt idx="0">
                  <c:v>22</c:v>
                </c:pt>
                <c:pt idx="1">
                  <c:v>20</c:v>
                </c:pt>
                <c:pt idx="2">
                  <c:v>18</c:v>
                </c:pt>
                <c:pt idx="3">
                  <c:v>15</c:v>
                </c:pt>
                <c:pt idx="4">
                  <c:v>15</c:v>
                </c:pt>
                <c:pt idx="5">
                  <c:v>10</c:v>
                </c:pt>
              </c:numCache>
            </c:numRef>
          </c:val>
        </c:ser>
        <c:dLbls>
          <c:numFmt formatCode="&quot;$&quot;0&quot;M&quot;"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2E8F0"/>
            </a:solidFill>
            <a:prstDash val="solid"/>
            <a:round/>
          </a:ln>
        </c:spPr>
        <c:txPr>
          <a:bodyPr/>
          <a:lstStyle/>
          <a:p>
            <a:pPr>
              <a:defRPr sz="1200" b="0" i="0" u="none" strike="noStrike">
                <a:solidFill>
                  <a:srgbClr val="526579"/>
                </a:solidFill>
                <a:latin typeface="+mn-lt"/>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265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Kingsley Chigozie, and I carried out this analysis. This assessment answers one practical question: if a donor has 100 million dollars to make Nepal more resilient to climate disasters, where should it go and why? We look at all 77 districts, we test our answer against 15 years of real disaster records, and we end with a recommendation where every dollar is tied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26 August 2026 a glacier and rock-and-ice collapse sent a flash flood down the Bhote Koshi and Trishuli rivers, north of Kathmandu. People died, families were displaced, and hydropower plants were damaged. This was not a one-off: Nepal has a long record of floods and landslides. So the question is bigger than this one event. Across all 77 districts, where is the risk, what drives it, and does Nepal's own disaster history agree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Disaster professionals define risk as hazard times exposure times vulnerability. A huge landslide on an empty mountainside is hazard without exposure: low risk. A city with no hazard is also low risk. Risk is high only where all three meet. Our method has three steps: measure those three ingredients for every district, test the result against real disasters, and then 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public datasets. Before any analysis we read the data dictionary and fixed four problems. One: rainfall doubles overnight in 2004 because NASA changed its data source, so all trends start in 2004. Two: the satellite grid is coarse, so only 45 of the 77 rainfall series are actually different; we count each once. Three: the slope column has a unit error and shows almost 90 degrees everywhere, which is impossible, so we measure steepness with the spread of elevation instead. Four: 2026 stops at the end of August, so we don't treat it as a full year. We also fixed a spelling mismatch for Rukum district so the tables join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only the reliable record from 2004, average rainfall across Nepal is rising about 22.1 millimetres a year, and the trend is statistically significant. Recent years, 2020 to 2025, are about 27 percent wetter than 2004 to 2019. Rainfall naturally swings about 16 percent from year to year, so this change is bigger than normal noise. 33 of the 45 independent rainfall series show a meaningful increase; none show a meaningful decrease. One caution: satellite products get reprocessed, so a small part of any trend could be instrumental.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defined an extreme rain day as one of the heaviest five percent of rainy days for each district, because what counts as extreme in a dry district is different from a wet one. The average district went from 6 to 8.9 extreme days a year, about 49 percent more. The trend is borderline significant, so we call it a strong indication rather than proof. Here is the twist. January to August 2026 was the third wettest on record, but on 26 August itself the corridor got about 20 millimetres, below the extreme threshold. The disaster was triggered by ice collapsing, not by rain. That matters for where we 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physical geography. Terrain ruggedness is how much the elevation varies inside a district: valleys and peaks together mean steep, unstable ground. River hazard combines how big the river is with how close the land is to it. These two measures are almost unrelated, so each adds new information. Eight districts are in the top third on both, including Gorkha, Sankhuwasabha and Ramechhap. Why does the combination matter? A landslide can block a river and then burst, and an ice collapse travels down steep valleys through river corridors. That cascade is exactly what happened on 26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Exposure is what's in harm's way: people, density, hospitals, schools and hydropower. It concentrates in Kathmandu, Pokhara and the southern plains, plus hydropower hubs like Dolakha. We tested different weights and the ranking barely changed. Vulnerability is how hard it is to cope and to help: we use road density and people per hospital. The most vulnerable districts are remote mountain districts like Taplejung and Darchula. We are honest about what's missing: poverty, age structure and housing quality aren't in the data, so vulnerability is only partly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index is built. Hazard comes in two versions: flood hazard combines heavy rain with river size and closeness; landslide hazard combines heavy rain with terrain ruggedness. We multiply hazard, exposure and vulnerability using a geometric mean, so a district scores high only if all three are high. If any one is near zero, risk is low. Three choices to know: we log-scaled skewed numbers so Kathmandu doesn't squash everyone else; we checked that our weights don't change the answer; and we chose multiplication because it matches what risk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highest-risk districts on the combined index: Myagdi, Darchula, Taplejung, Sankhuwasabha and so on. They combine steep terrain and heavy rain with weak road and hospital access. Notice what's not here: the corridor hit on 26 August. Sindhupalchok ranks 21 and Rasuwa 47. That is an important signal, and the validation section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part. Until now, our index is just a hypothesis. We tested it against 12,341 disasters recorded by Nepal's BIPAD system since 2011, after removing duplicate records. The landslide index works: a correlation of 0.52 with recorded landslides, and terrain ruggedness alone explains about half the difference between districts. The combined index is moderate, around 0.4, but that comes almost entirely from its landslide part. The flood index fails, at only 0.24. We did not re-tune the model to make this number look better; that would be cheating. Instead we found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floods fail? Look at where floods are actually recorded: Jhapa, Morang, Sunsari, Kailali, and Kathmandu. Flat southern lowlands, plus Kathmandu. Flood counts go down with rugged terrain and up with population and roads. Our flood hazard score has essentially no link at all. The explanation is a missing variable: we measure mountain rivers and rainfall, but lowland floods happen where rivers spread across flat, crowded plains, and the dataset has nothing on floodplains. Part of it is also reporting: floods get recorded where people and roads are. The brief tells us to explain weak results, not hide them, and that's what we've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us to decide, with evidence, whether one combined index or separate flood and landslide indices is more defensible. The evidence points to separate indices. First, floods and landslides happen in different districts. Second, each specific index beats the combined one on its own hazard. Third, a single number would hide the fact that we predict landslides well and floods poorly. So we use two indices, and we treat the flood index as low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also revealed problems with the record itself. Recorded events jump about four-fold after 2023, but deaths per event drop sharply. That means far more small incidents are being logged; it's a reporting change, not four times more disasters. More strikingly, the 26 August collapse that prompted this assessment is not in the record: only six minor events with no deaths in the corridor afterwards. There are no glacial lake outburst records at all. And our index ranks the corridor in the middle of the pack, because glacial hazard simply isn't in the data. These blind spots shape the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recommendation. The principle is simple: money follows evidence. 63 million goes to direct protection where our analysis is solid: landslide early warning in the validated high-risk districts, flood warning where floods are actually recorded, reinforcing exposed infrastructure, and preparing the most isolated communities. 37 million goes to the blind spots: monitoring glaciers and unstable terrain, including the August corridor, and fixing the disaster and flood data so the next assessment can see what this one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line is traceable. Landslide early warning goes to the top eight on the validated landslide index. Flood warning goes to the five districts with the most recorded floods, because our flood index failed. Glacial monitoring goes to the high-mountain districts that are steep and on major rivers, plus Sindhupalchok and Rasuwa. Infrastructure reinforcement targets high exposure plus every district with 150 megawatts or more of hydropower. Community preparedness targets the most vulnerable districts, and data infrastructure is national, piloted where hazard is high but few events are recorded. F-numbers refer to the findings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One: rain extremes in Nepal are rising. Two: with this data we can rank landslide risk with reasonable confidence, but floods and glacial collapses like 26 August sit in blind spots. Three: our 100 million follows the evidence, protecting where we're confident and closing the gaps where we're not.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questions: data sources as cited in the data dictionary, every major assumption, and the limitations we identified. The notebook documents each one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7680960" cy="365760"/>
          </a:xfrm>
          <a:prstGeom prst="rect">
            <a:avLst/>
          </a:prstGeom>
          <a:noFill/>
          <a:ln/>
        </p:spPr>
        <p:txBody>
          <a:bodyPr wrap="square" rtlCol="0"/>
          <a:lstStyle>
            <a:lvl1pPr algn="l" indent="0" marL="0">
              <a:buNone/>
              <a:defRPr lang="en-US" sz="1400" b="1" spc="200" kern="0" dirty="0">
                <a:solidFill>
                  <a:srgbClr val="A9BCD0"/>
                </a:solidFill>
              </a:defRPr>
            </a:lvl1pPr>
          </a:lstStyle>
          <a:p>
            <a:pPr algn="l" indent="0" marL="0">
              <a:buNone/>
            </a:pPr>
            <a:endParaRPr lang="en-US" sz="1400" dirty="0"/>
          </a:p>
        </p:txBody>
      </p:sp>
      <p:sp>
        <p:nvSpPr>
          <p:cNvPr id="3" name="Text 0"/>
          <p:cNvSpPr/>
          <p:nvPr>
            <p:ph idx="101" type="title" hasCustomPrompt="1"/>
          </p:nvPr>
        </p:nvSpPr>
        <p:spPr>
          <a:xfrm>
            <a:off x="548640" y="1828800"/>
            <a:ext cx="10058400" cy="11430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063240"/>
            <a:ext cx="7315200" cy="12801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Nepal Climate Risk and Resilience Assessment  ·  Kingsley Chigozie</a:t>
            </a:r>
            <a:endParaRPr lang="en-US" sz="10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229600" cy="320040"/>
          </a:xfrm>
          <a:prstGeom prst="rect">
            <a:avLst/>
          </a:prstGeom>
          <a:noFill/>
          <a:ln/>
        </p:spPr>
        <p:txBody>
          <a:bodyPr wrap="square" rtlCol="0"/>
          <a:lstStyle>
            <a:lvl1pPr algn="l" indent="0" marL="0">
              <a:buNone/>
              <a:defRPr lang="en-US" sz="1200" b="1" spc="200" kern="0" dirty="0">
                <a:solidFill>
                  <a:srgbClr val="A9BCD0"/>
                </a:solidFill>
              </a:defRPr>
            </a:lvl1pPr>
          </a:lstStyle>
          <a:p>
            <a:pPr algn="l" indent="0" marL="0">
              <a:buNone/>
            </a:pPr>
            <a:endParaRPr lang="en-US" sz="1200" dirty="0"/>
          </a:p>
        </p:txBody>
      </p:sp>
      <p:sp>
        <p:nvSpPr>
          <p:cNvPr id="3" name="Text 0"/>
          <p:cNvSpPr/>
          <p:nvPr>
            <p:ph idx="101" type="title" hasCustomPrompt="1"/>
          </p:nvPr>
        </p:nvSpPr>
        <p:spPr>
          <a:xfrm>
            <a:off x="548640" y="868680"/>
            <a:ext cx="11094415"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epal-climate-risk.streamlit.app"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nepal-climate-risk.streamlit.app" TargetMode="Externa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7680960" cy="365760"/>
          </a:xfrm>
          <a:prstGeom prst="rect">
            <a:avLst/>
          </a:prstGeom>
          <a:noFill/>
          <a:ln/>
        </p:spPr>
        <p:txBody>
          <a:bodyPr wrap="square" lIns="0" tIns="0" rIns="0" bIns="0" rtlCol="0" anchor="t"/>
          <a:lstStyle/>
          <a:p>
            <a:pPr algn="l" indent="0" marL="0">
              <a:buNone/>
            </a:pPr>
            <a:r>
              <a:rPr lang="en-US" sz="1400" b="1" spc="200" kern="0" dirty="0">
                <a:solidFill>
                  <a:srgbClr val="A9BCD0"/>
                </a:solidFill>
              </a:rPr>
              <a:t>CAPSTONE PROJECT  |  OCTOBER 2026</a:t>
            </a:r>
            <a:endParaRPr lang="en-US" sz="1400" dirty="0"/>
          </a:p>
        </p:txBody>
      </p:sp>
      <p:sp>
        <p:nvSpPr>
          <p:cNvPr id="3" name="Text 0"/>
          <p:cNvSpPr/>
          <p:nvPr>
            <p:ph idx="101" type="title" hasCustomPrompt="1"/>
          </p:nvPr>
        </p:nvSpPr>
        <p:spPr>
          <a:xfrm>
            <a:off x="548640" y="1828800"/>
            <a:ext cx="10058400" cy="1143000"/>
          </a:xfrm>
          <a:prstGeom prst="rect">
            <a:avLst/>
          </a:prstGeom>
          <a:noFill/>
          <a:ln/>
        </p:spPr>
        <p:txBody>
          <a:bodyPr wrap="square" lIns="0" tIns="0" rIns="0" bIns="0" rtlCol="0" anchor="t"/>
          <a:lstStyle/>
          <a:p>
            <a:pPr algn="l" indent="0" marL="0">
              <a:buNone/>
            </a:pPr>
            <a:r>
              <a:rPr lang="en-US" sz="4400" b="1" dirty="0">
                <a:solidFill>
                  <a:schemeClr val="bg1"/>
                </a:solidFill>
              </a:rPr>
              <a:t>Where Nepal's Climate Risk Lives</a:t>
            </a:r>
            <a:endParaRPr lang="en-US" sz="4400" dirty="0"/>
          </a:p>
        </p:txBody>
      </p:sp>
      <p:sp>
        <p:nvSpPr>
          <p:cNvPr id="4" name="Text 0"/>
          <p:cNvSpPr/>
          <p:nvPr>
            <p:ph idx="102" type="body" hasCustomPrompt="1"/>
          </p:nvPr>
        </p:nvSpPr>
        <p:spPr>
          <a:xfrm>
            <a:off x="548640" y="3063240"/>
            <a:ext cx="7315200" cy="1280160"/>
          </a:xfrm>
          <a:prstGeom prst="rect">
            <a:avLst/>
          </a:prstGeom>
          <a:noFill/>
          <a:ln/>
        </p:spPr>
        <p:txBody>
          <a:bodyPr wrap="square" lIns="0" tIns="0" rIns="0" bIns="0" rtlCol="0" anchor="t"/>
          <a:lstStyle/>
          <a:p>
            <a:pPr algn="l" indent="0" marL="0">
              <a:buNone/>
            </a:pPr>
            <a:r>
              <a:rPr lang="en-US" sz="1800" dirty="0">
                <a:solidFill>
                  <a:schemeClr val="bg2"/>
                </a:solidFill>
              </a:rPr>
              <a:t>A risk assessment of all 77 districts, tested against 15 years of recorded disasters, and a USD 100 million resilience recommendation</a:t>
            </a:r>
            <a:endParaRPr lang="en-US" sz="1800" dirty="0"/>
          </a:p>
        </p:txBody>
      </p:sp>
      <p:pic>
        <p:nvPicPr>
          <p:cNvPr id="5" name="mountain ridges" descr="Himalayan ridge line art">    </p:cNvPr>
          <p:cNvPicPr>
            <a:picLocks noChangeAspect="1"/>
          </p:cNvPicPr>
          <p:nvPr/>
        </p:nvPicPr>
        <p:blipFill>
          <a:blip r:embed="rId1"/>
          <a:stretch>
            <a:fillRect/>
          </a:stretch>
        </p:blipFill>
        <p:spPr>
          <a:xfrm>
            <a:off x="5788152" y="3566160"/>
            <a:ext cx="6400800" cy="3291840"/>
          </a:xfrm>
          <a:prstGeom prst="rect">
            <a:avLst/>
          </a:prstGeom>
        </p:spPr>
      </p:pic>
      <p:sp>
        <p:nvSpPr>
          <p:cNvPr id="6" name="Logo tile"/>
          <p:cNvSpPr/>
          <p:nvPr/>
        </p:nvSpPr>
        <p:spPr>
          <a:xfrm>
            <a:off x="548640" y="548640"/>
            <a:ext cx="457200" cy="457200"/>
          </a:xfrm>
          <a:prstGeom prst="roundRect">
            <a:avLst>
              <a:gd name="adj" fmla="val 22000"/>
            </a:avLst>
          </a:prstGeom>
          <a:solidFill>
            <a:srgbClr val="195B96"/>
          </a:solidFill>
          <a:ln/>
        </p:spPr>
      </p:sp>
      <p:pic>
        <p:nvPicPr>
          <p:cNvPr id="7" name="Logo icon" descr="Logo">    </p:cNvPr>
          <p:cNvPicPr>
            <a:picLocks noChangeAspect="1"/>
          </p:cNvPicPr>
          <p:nvPr/>
        </p:nvPicPr>
        <p:blipFill>
          <a:blip r:embed="rId2"/>
          <a:stretch>
            <a:fillRect/>
          </a:stretch>
        </p:blipFill>
        <p:spPr>
          <a:xfrm>
            <a:off x="662940" y="662940"/>
            <a:ext cx="228600" cy="228600"/>
          </a:xfrm>
          <a:prstGeom prst="rect">
            <a:avLst/>
          </a:prstGeom>
        </p:spPr>
      </p:pic>
      <p:sp>
        <p:nvSpPr>
          <p:cNvPr id="8" name="Text 4"/>
          <p:cNvSpPr txBox="1"/>
          <p:nvPr/>
        </p:nvSpPr>
        <p:spPr>
          <a:xfrm>
            <a:off x="1170432" y="548640"/>
            <a:ext cx="6400800" cy="457200"/>
          </a:xfrm>
          <a:prstGeom prst="rect">
            <a:avLst/>
          </a:prstGeom>
          <a:noFill/>
          <a:ln/>
        </p:spPr>
        <p:txBody>
          <a:bodyPr wrap="square" lIns="0" tIns="0" rIns="0" bIns="0" rtlCol="0" anchor="ctr"/>
          <a:lstStyle/>
          <a:p>
            <a:pPr indent="0" marL="0">
              <a:buNone/>
            </a:pPr>
            <a:r>
              <a:rPr lang="en-US" sz="1200" b="1" spc="200" kern="0" dirty="0">
                <a:solidFill>
                  <a:srgbClr val="A9BCD0"/>
                </a:solidFill>
              </a:rPr>
              <a:t>NEPAL CLIMATE RISK  ·  INTELLIGENCE PLATFORM</a:t>
            </a:r>
            <a:endParaRPr lang="en-US" sz="1200" dirty="0"/>
          </a:p>
        </p:txBody>
      </p:sp>
      <p:sp>
        <p:nvSpPr>
          <p:cNvPr id="9" name="Text 5"/>
          <p:cNvSpPr txBox="1"/>
          <p:nvPr/>
        </p:nvSpPr>
        <p:spPr>
          <a:xfrm>
            <a:off x="548640" y="4572000"/>
            <a:ext cx="5029200" cy="274320"/>
          </a:xfrm>
          <a:prstGeom prst="rect">
            <a:avLst/>
          </a:prstGeom>
          <a:noFill/>
          <a:ln/>
        </p:spPr>
        <p:txBody>
          <a:bodyPr wrap="square" lIns="0" tIns="0" rIns="0" bIns="0" rtlCol="0" anchor="t"/>
          <a:lstStyle/>
          <a:p>
            <a:pPr indent="0" marL="0">
              <a:buNone/>
            </a:pPr>
            <a:r>
              <a:rPr lang="en-US" sz="1100" b="1" spc="200" kern="0" dirty="0">
                <a:solidFill>
                  <a:srgbClr val="A9BCD0"/>
                </a:solidFill>
              </a:rPr>
              <a:t>PRESENTER / ANALYST</a:t>
            </a:r>
            <a:endParaRPr lang="en-US" sz="1100" dirty="0"/>
          </a:p>
        </p:txBody>
      </p:sp>
      <p:sp>
        <p:nvSpPr>
          <p:cNvPr id="10" name="Text 6"/>
          <p:cNvSpPr txBox="1"/>
          <p:nvPr/>
        </p:nvSpPr>
        <p:spPr>
          <a:xfrm>
            <a:off x="548640" y="4846320"/>
            <a:ext cx="5029200" cy="457200"/>
          </a:xfrm>
          <a:prstGeom prst="rect">
            <a:avLst/>
          </a:prstGeom>
          <a:noFill/>
          <a:ln/>
        </p:spPr>
        <p:txBody>
          <a:bodyPr wrap="square" lIns="0" tIns="0" rIns="0" bIns="0" rtlCol="0" anchor="t"/>
          <a:lstStyle/>
          <a:p>
            <a:pPr indent="0" marL="0">
              <a:buNone/>
            </a:pPr>
            <a:r>
              <a:rPr lang="en-US" sz="2200" b="1" dirty="0">
                <a:solidFill>
                  <a:schemeClr val="bg1"/>
                </a:solidFill>
              </a:rPr>
              <a:t>Kingsley Chigozie</a:t>
            </a:r>
            <a:endParaRPr lang="en-US" sz="2200" dirty="0"/>
          </a:p>
        </p:txBody>
      </p:sp>
      <p:sp>
        <p:nvSpPr>
          <p:cNvPr id="11" name="Text 7"/>
          <p:cNvSpPr txBox="1"/>
          <p:nvPr/>
        </p:nvSpPr>
        <p:spPr>
          <a:xfrm>
            <a:off x="548640" y="5440680"/>
            <a:ext cx="5029200" cy="365760"/>
          </a:xfrm>
          <a:prstGeom prst="rect">
            <a:avLst/>
          </a:prstGeom>
          <a:noFill/>
          <a:ln/>
        </p:spPr>
        <p:txBody>
          <a:bodyPr wrap="square" lIns="0" tIns="0" rIns="0" bIns="0" rtlCol="0" anchor="t"/>
          <a:lstStyle/>
          <a:p>
            <a:pPr indent="0" marL="0">
              <a:buNone/>
            </a:pPr>
            <a:r>
              <a:rPr lang="en-US" sz="1500" dirty="0">
                <a:solidFill>
                  <a:srgbClr val="A9BCD0"/>
                </a:solidFill>
              </a:rPr>
              <a:t>Live app:  </a:t>
            </a:r>
            <a:pPr indent="0" marL="0">
              <a:buNone/>
            </a:pPr>
            <a:r>
              <a:rPr lang="en-US" sz="1500" b="1" u="sng" dirty="0">
                <a:solidFill>
                  <a:srgbClr val="56B4E9"/>
                </a:solidFill>
                <a:hlinkClick r:id="rId3" invalidUrl="" action="" tgtFrame="" tooltip="Open the live Nepal Climate Risk app" history="1" highlightClick="0" endSnd="0">
                  <a:extLst>
                    <a:ext uri="{A12FA001-AC4F-418D-AE19-62706E023703}">
                      <ahyp:hlinkClr xmlns:ahyp="http://schemas.microsoft.com/office/drawing/2018/hyperlinkcolor" val="tx"/>
                    </a:ext>
                  </a:extLst>
                </a:hlinkClick>
              </a:rPr>
              <a:t>nepal-climate-risk.streamlit.app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EVENT</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26 August 2026: a glacier collapse</a:t>
            </a:r>
            <a:endParaRPr lang="en-US" sz="3400" dirty="0"/>
          </a:p>
        </p:txBody>
      </p:sp>
      <p:sp>
        <p:nvSpPr>
          <p:cNvPr id="4" name="Trigger tile"/>
          <p:cNvSpPr/>
          <p:nvPr/>
        </p:nvSpPr>
        <p:spPr>
          <a:xfrm>
            <a:off x="548640" y="1783080"/>
            <a:ext cx="731520" cy="731520"/>
          </a:xfrm>
          <a:prstGeom prst="roundRect">
            <a:avLst>
              <a:gd name="adj" fmla="val 22000"/>
            </a:avLst>
          </a:prstGeom>
          <a:solidFill>
            <a:srgbClr val="E6F1F8"/>
          </a:solidFill>
          <a:ln/>
        </p:spPr>
      </p:sp>
      <p:pic>
        <p:nvPicPr>
          <p:cNvPr id="5" name="Trigger icon" descr="Trigger">    </p:cNvPr>
          <p:cNvPicPr>
            <a:picLocks noChangeAspect="1"/>
          </p:cNvPicPr>
          <p:nvPr/>
        </p:nvPicPr>
        <p:blipFill>
          <a:blip r:embed="rId1"/>
          <a:stretch>
            <a:fillRect/>
          </a:stretch>
        </p:blipFill>
        <p:spPr>
          <a:xfrm>
            <a:off x="731520" y="1965960"/>
            <a:ext cx="365760" cy="365760"/>
          </a:xfrm>
          <a:prstGeom prst="rect">
            <a:avLst/>
          </a:prstGeom>
        </p:spPr>
      </p:pic>
      <p:sp>
        <p:nvSpPr>
          <p:cNvPr id="6" name="Text 3"/>
          <p:cNvSpPr txBox="1"/>
          <p:nvPr/>
        </p:nvSpPr>
        <p:spPr>
          <a:xfrm>
            <a:off x="1508760" y="1801368"/>
            <a:ext cx="4572000" cy="320040"/>
          </a:xfrm>
          <a:prstGeom prst="rect">
            <a:avLst/>
          </a:prstGeom>
          <a:noFill/>
          <a:ln/>
        </p:spPr>
        <p:txBody>
          <a:bodyPr wrap="square" lIns="0" tIns="0" rIns="0" bIns="0" rtlCol="0" anchor="t"/>
          <a:lstStyle/>
          <a:p>
            <a:pPr indent="0" marL="0">
              <a:buNone/>
            </a:pPr>
            <a:r>
              <a:rPr lang="en-US" sz="1800" b="1" dirty="0">
                <a:solidFill>
                  <a:schemeClr val="tx2"/>
                </a:solidFill>
              </a:rPr>
              <a:t>Trigger</a:t>
            </a:r>
            <a:endParaRPr lang="en-US" sz="1800" dirty="0"/>
          </a:p>
        </p:txBody>
      </p:sp>
      <p:sp>
        <p:nvSpPr>
          <p:cNvPr id="7" name="Text 4"/>
          <p:cNvSpPr txBox="1"/>
          <p:nvPr/>
        </p:nvSpPr>
        <p:spPr>
          <a:xfrm>
            <a:off x="1508760" y="2148840"/>
            <a:ext cx="4572000" cy="457200"/>
          </a:xfrm>
          <a:prstGeom prst="rect">
            <a:avLst/>
          </a:prstGeom>
          <a:noFill/>
          <a:ln/>
        </p:spPr>
        <p:txBody>
          <a:bodyPr wrap="square" lIns="0" tIns="0" rIns="0" bIns="0" rtlCol="0" anchor="t"/>
          <a:lstStyle/>
          <a:p>
            <a:pPr indent="0" marL="0">
              <a:buNone/>
            </a:pPr>
            <a:r>
              <a:rPr lang="en-US" sz="1400" dirty="0">
                <a:solidFill>
                  <a:schemeClr val="tx1"/>
                </a:solidFill>
              </a:rPr>
              <a:t>Glacier and rock-and-ice collapse at high altitude</a:t>
            </a:r>
            <a:endParaRPr lang="en-US" sz="1400" dirty="0"/>
          </a:p>
        </p:txBody>
      </p:sp>
      <p:sp>
        <p:nvSpPr>
          <p:cNvPr id="8" name="Path tile"/>
          <p:cNvSpPr/>
          <p:nvPr/>
        </p:nvSpPr>
        <p:spPr>
          <a:xfrm>
            <a:off x="548640" y="2880360"/>
            <a:ext cx="731520" cy="731520"/>
          </a:xfrm>
          <a:prstGeom prst="roundRect">
            <a:avLst>
              <a:gd name="adj" fmla="val 22000"/>
            </a:avLst>
          </a:prstGeom>
          <a:solidFill>
            <a:srgbClr val="E6F1F8"/>
          </a:solidFill>
          <a:ln/>
        </p:spPr>
      </p:sp>
      <p:pic>
        <p:nvPicPr>
          <p:cNvPr id="9" name="Path icon" descr="Path">    </p:cNvPr>
          <p:cNvPicPr>
            <a:picLocks noChangeAspect="1"/>
          </p:cNvPicPr>
          <p:nvPr/>
        </p:nvPicPr>
        <p:blipFill>
          <a:blip r:embed="rId2"/>
          <a:stretch>
            <a:fillRect/>
          </a:stretch>
        </p:blipFill>
        <p:spPr>
          <a:xfrm>
            <a:off x="731520" y="3063240"/>
            <a:ext cx="365760" cy="365760"/>
          </a:xfrm>
          <a:prstGeom prst="rect">
            <a:avLst/>
          </a:prstGeom>
        </p:spPr>
      </p:pic>
      <p:sp>
        <p:nvSpPr>
          <p:cNvPr id="10" name="Text 6"/>
          <p:cNvSpPr txBox="1"/>
          <p:nvPr/>
        </p:nvSpPr>
        <p:spPr>
          <a:xfrm>
            <a:off x="1508760" y="2898648"/>
            <a:ext cx="4572000" cy="320040"/>
          </a:xfrm>
          <a:prstGeom prst="rect">
            <a:avLst/>
          </a:prstGeom>
          <a:noFill/>
          <a:ln/>
        </p:spPr>
        <p:txBody>
          <a:bodyPr wrap="square" lIns="0" tIns="0" rIns="0" bIns="0" rtlCol="0" anchor="t"/>
          <a:lstStyle/>
          <a:p>
            <a:pPr indent="0" marL="0">
              <a:buNone/>
            </a:pPr>
            <a:r>
              <a:rPr lang="en-US" sz="1800" b="1" dirty="0">
                <a:solidFill>
                  <a:schemeClr val="tx2"/>
                </a:solidFill>
              </a:rPr>
              <a:t>Path</a:t>
            </a:r>
            <a:endParaRPr lang="en-US" sz="1800" dirty="0"/>
          </a:p>
        </p:txBody>
      </p:sp>
      <p:sp>
        <p:nvSpPr>
          <p:cNvPr id="11" name="Text 7"/>
          <p:cNvSpPr txBox="1"/>
          <p:nvPr/>
        </p:nvSpPr>
        <p:spPr>
          <a:xfrm>
            <a:off x="1508760" y="3246120"/>
            <a:ext cx="4572000" cy="457200"/>
          </a:xfrm>
          <a:prstGeom prst="rect">
            <a:avLst/>
          </a:prstGeom>
          <a:noFill/>
          <a:ln/>
        </p:spPr>
        <p:txBody>
          <a:bodyPr wrap="square" lIns="0" tIns="0" rIns="0" bIns="0" rtlCol="0" anchor="t"/>
          <a:lstStyle/>
          <a:p>
            <a:pPr indent="0" marL="0">
              <a:buNone/>
            </a:pPr>
            <a:r>
              <a:rPr lang="en-US" sz="1400" dirty="0">
                <a:solidFill>
                  <a:schemeClr val="tx1"/>
                </a:solidFill>
              </a:rPr>
              <a:t>Flash flood down the Bhote Koshi and Trishuli river corridor</a:t>
            </a:r>
            <a:endParaRPr lang="en-US" sz="1400" dirty="0"/>
          </a:p>
        </p:txBody>
      </p:sp>
      <p:sp>
        <p:nvSpPr>
          <p:cNvPr id="12" name="Human cost tile"/>
          <p:cNvSpPr/>
          <p:nvPr/>
        </p:nvSpPr>
        <p:spPr>
          <a:xfrm>
            <a:off x="548640" y="3977640"/>
            <a:ext cx="731520" cy="731520"/>
          </a:xfrm>
          <a:prstGeom prst="roundRect">
            <a:avLst>
              <a:gd name="adj" fmla="val 22000"/>
            </a:avLst>
          </a:prstGeom>
          <a:solidFill>
            <a:srgbClr val="E6F1F8"/>
          </a:solidFill>
          <a:ln/>
        </p:spPr>
      </p:sp>
      <p:pic>
        <p:nvPicPr>
          <p:cNvPr id="13" name="Human cost icon" descr="Human cost">    </p:cNvPr>
          <p:cNvPicPr>
            <a:picLocks noChangeAspect="1"/>
          </p:cNvPicPr>
          <p:nvPr/>
        </p:nvPicPr>
        <p:blipFill>
          <a:blip r:embed="rId3"/>
          <a:stretch>
            <a:fillRect/>
          </a:stretch>
        </p:blipFill>
        <p:spPr>
          <a:xfrm>
            <a:off x="731520" y="4160520"/>
            <a:ext cx="365760" cy="365760"/>
          </a:xfrm>
          <a:prstGeom prst="rect">
            <a:avLst/>
          </a:prstGeom>
        </p:spPr>
      </p:pic>
      <p:sp>
        <p:nvSpPr>
          <p:cNvPr id="14" name="Text 9"/>
          <p:cNvSpPr txBox="1"/>
          <p:nvPr/>
        </p:nvSpPr>
        <p:spPr>
          <a:xfrm>
            <a:off x="1508760" y="3995928"/>
            <a:ext cx="4572000" cy="320040"/>
          </a:xfrm>
          <a:prstGeom prst="rect">
            <a:avLst/>
          </a:prstGeom>
          <a:noFill/>
          <a:ln/>
        </p:spPr>
        <p:txBody>
          <a:bodyPr wrap="square" lIns="0" tIns="0" rIns="0" bIns="0" rtlCol="0" anchor="t"/>
          <a:lstStyle/>
          <a:p>
            <a:pPr indent="0" marL="0">
              <a:buNone/>
            </a:pPr>
            <a:r>
              <a:rPr lang="en-US" sz="1800" b="1" dirty="0">
                <a:solidFill>
                  <a:schemeClr val="tx2"/>
                </a:solidFill>
              </a:rPr>
              <a:t>Human cost</a:t>
            </a:r>
            <a:endParaRPr lang="en-US" sz="1800" dirty="0"/>
          </a:p>
        </p:txBody>
      </p:sp>
      <p:sp>
        <p:nvSpPr>
          <p:cNvPr id="15" name="Text 10"/>
          <p:cNvSpPr txBox="1"/>
          <p:nvPr/>
        </p:nvSpPr>
        <p:spPr>
          <a:xfrm>
            <a:off x="1508760" y="4343400"/>
            <a:ext cx="4572000" cy="457200"/>
          </a:xfrm>
          <a:prstGeom prst="rect">
            <a:avLst/>
          </a:prstGeom>
          <a:noFill/>
          <a:ln/>
        </p:spPr>
        <p:txBody>
          <a:bodyPr wrap="square" lIns="0" tIns="0" rIns="0" bIns="0" rtlCol="0" anchor="t"/>
          <a:lstStyle/>
          <a:p>
            <a:pPr indent="0" marL="0">
              <a:buNone/>
            </a:pPr>
            <a:r>
              <a:rPr lang="en-US" sz="1400" dirty="0">
                <a:solidFill>
                  <a:schemeClr val="tx1"/>
                </a:solidFill>
              </a:rPr>
              <a:t>Significant loss of life and displacement</a:t>
            </a:r>
            <a:endParaRPr lang="en-US" sz="1400" dirty="0"/>
          </a:p>
        </p:txBody>
      </p:sp>
      <p:sp>
        <p:nvSpPr>
          <p:cNvPr id="16" name="Assets tile"/>
          <p:cNvSpPr/>
          <p:nvPr/>
        </p:nvSpPr>
        <p:spPr>
          <a:xfrm>
            <a:off x="548640" y="5074920"/>
            <a:ext cx="731520" cy="731520"/>
          </a:xfrm>
          <a:prstGeom prst="roundRect">
            <a:avLst>
              <a:gd name="adj" fmla="val 22000"/>
            </a:avLst>
          </a:prstGeom>
          <a:solidFill>
            <a:srgbClr val="E6F1F8"/>
          </a:solidFill>
          <a:ln/>
        </p:spPr>
      </p:sp>
      <p:pic>
        <p:nvPicPr>
          <p:cNvPr id="17" name="Assets icon" descr="Assets">    </p:cNvPr>
          <p:cNvPicPr>
            <a:picLocks noChangeAspect="1"/>
          </p:cNvPicPr>
          <p:nvPr/>
        </p:nvPicPr>
        <p:blipFill>
          <a:blip r:embed="rId4"/>
          <a:stretch>
            <a:fillRect/>
          </a:stretch>
        </p:blipFill>
        <p:spPr>
          <a:xfrm>
            <a:off x="731520" y="5257800"/>
            <a:ext cx="365760" cy="365760"/>
          </a:xfrm>
          <a:prstGeom prst="rect">
            <a:avLst/>
          </a:prstGeom>
        </p:spPr>
      </p:pic>
      <p:sp>
        <p:nvSpPr>
          <p:cNvPr id="18" name="Text 12"/>
          <p:cNvSpPr txBox="1"/>
          <p:nvPr/>
        </p:nvSpPr>
        <p:spPr>
          <a:xfrm>
            <a:off x="1508760" y="5093208"/>
            <a:ext cx="4572000" cy="320040"/>
          </a:xfrm>
          <a:prstGeom prst="rect">
            <a:avLst/>
          </a:prstGeom>
          <a:noFill/>
          <a:ln/>
        </p:spPr>
        <p:txBody>
          <a:bodyPr wrap="square" lIns="0" tIns="0" rIns="0" bIns="0" rtlCol="0" anchor="t"/>
          <a:lstStyle/>
          <a:p>
            <a:pPr indent="0" marL="0">
              <a:buNone/>
            </a:pPr>
            <a:r>
              <a:rPr lang="en-US" sz="1800" b="1" dirty="0">
                <a:solidFill>
                  <a:schemeClr val="tx2"/>
                </a:solidFill>
              </a:rPr>
              <a:t>Assets</a:t>
            </a:r>
            <a:endParaRPr lang="en-US" sz="1800" dirty="0"/>
          </a:p>
        </p:txBody>
      </p:sp>
      <p:sp>
        <p:nvSpPr>
          <p:cNvPr id="19" name="Text 13"/>
          <p:cNvSpPr txBox="1"/>
          <p:nvPr/>
        </p:nvSpPr>
        <p:spPr>
          <a:xfrm>
            <a:off x="1508760" y="5440680"/>
            <a:ext cx="4572000" cy="457200"/>
          </a:xfrm>
          <a:prstGeom prst="rect">
            <a:avLst/>
          </a:prstGeom>
          <a:noFill/>
          <a:ln/>
        </p:spPr>
        <p:txBody>
          <a:bodyPr wrap="square" lIns="0" tIns="0" rIns="0" bIns="0" rtlCol="0" anchor="t"/>
          <a:lstStyle/>
          <a:p>
            <a:pPr indent="0" marL="0">
              <a:buNone/>
            </a:pPr>
            <a:r>
              <a:rPr lang="en-US" sz="1400" dirty="0">
                <a:solidFill>
                  <a:schemeClr val="tx1"/>
                </a:solidFill>
              </a:rPr>
              <a:t>Damage to hydropower generation facilities</a:t>
            </a:r>
            <a:endParaRPr lang="en-US" sz="1400" dirty="0"/>
          </a:p>
        </p:txBody>
      </p:sp>
      <p:sp>
        <p:nvSpPr>
          <p:cNvPr id="20" name="question card"/>
          <p:cNvSpPr/>
          <p:nvPr/>
        </p:nvSpPr>
        <p:spPr>
          <a:xfrm>
            <a:off x="6675120" y="1737360"/>
            <a:ext cx="4965192" cy="4343400"/>
          </a:xfrm>
          <a:prstGeom prst="roundRect">
            <a:avLst>
              <a:gd name="adj" fmla="val 2526"/>
            </a:avLst>
          </a:prstGeom>
          <a:solidFill>
            <a:schemeClr val="tx2"/>
          </a:solidFill>
          <a:ln/>
        </p:spPr>
      </p:sp>
      <p:sp>
        <p:nvSpPr>
          <p:cNvPr id="21" name="Text 15"/>
          <p:cNvSpPr txBox="1"/>
          <p:nvPr/>
        </p:nvSpPr>
        <p:spPr>
          <a:xfrm>
            <a:off x="7040880" y="2057400"/>
            <a:ext cx="4206240" cy="274320"/>
          </a:xfrm>
          <a:prstGeom prst="rect">
            <a:avLst/>
          </a:prstGeom>
          <a:noFill/>
          <a:ln/>
        </p:spPr>
        <p:txBody>
          <a:bodyPr wrap="square" lIns="0" tIns="0" rIns="0" bIns="0" rtlCol="0" anchor="t"/>
          <a:lstStyle/>
          <a:p>
            <a:pPr indent="0" marL="0">
              <a:buNone/>
            </a:pPr>
            <a:r>
              <a:rPr lang="en-US" sz="1200" b="1" spc="200" kern="0" dirty="0">
                <a:solidFill>
                  <a:srgbClr val="A9BCD0"/>
                </a:solidFill>
              </a:rPr>
              <a:t>THE CENTRAL QUESTION</a:t>
            </a:r>
            <a:endParaRPr lang="en-US" sz="1200" dirty="0"/>
          </a:p>
        </p:txBody>
      </p:sp>
      <p:sp>
        <p:nvSpPr>
          <p:cNvPr id="22" name="Text 16"/>
          <p:cNvSpPr txBox="1"/>
          <p:nvPr/>
        </p:nvSpPr>
        <p:spPr>
          <a:xfrm>
            <a:off x="7040880" y="2514600"/>
            <a:ext cx="4206240" cy="2926080"/>
          </a:xfrm>
          <a:prstGeom prst="rect">
            <a:avLst/>
          </a:prstGeom>
          <a:noFill/>
          <a:ln/>
        </p:spPr>
        <p:txBody>
          <a:bodyPr wrap="square" lIns="0" tIns="0" rIns="0" bIns="0" rtlCol="0" anchor="t"/>
          <a:lstStyle/>
          <a:p>
            <a:pPr indent="0" marL="0">
              <a:buNone/>
            </a:pPr>
            <a:r>
              <a:rPr lang="en-US" sz="2000" dirty="0">
                <a:solidFill>
                  <a:schemeClr val="bg1"/>
                </a:solidFill>
              </a:rPr>
              <a:t>How do climate hazards, terrain, population, infrastructure and access interact to create risk across Nepal's 77 districts, and where has that risk actually materialized?</a:t>
            </a:r>
            <a:endParaRPr lang="en-US" sz="20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OUR APPROACH</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Risk exists only where three things meet</a:t>
            </a:r>
            <a:endParaRPr lang="en-US" sz="3400" dirty="0"/>
          </a:p>
        </p:txBody>
      </p:sp>
      <p:sp>
        <p:nvSpPr>
          <p:cNvPr id="4" name="Hazard tile"/>
          <p:cNvSpPr/>
          <p:nvPr/>
        </p:nvSpPr>
        <p:spPr>
          <a:xfrm>
            <a:off x="1417320" y="1645920"/>
            <a:ext cx="1280160" cy="1280160"/>
          </a:xfrm>
          <a:prstGeom prst="roundRect">
            <a:avLst>
              <a:gd name="adj" fmla="val 22000"/>
            </a:avLst>
          </a:prstGeom>
          <a:solidFill>
            <a:srgbClr val="E6F1F8"/>
          </a:solidFill>
          <a:ln/>
        </p:spPr>
      </p:sp>
      <p:pic>
        <p:nvPicPr>
          <p:cNvPr id="5" name="Hazard icon" descr="Hazard">    </p:cNvPr>
          <p:cNvPicPr>
            <a:picLocks noChangeAspect="1"/>
          </p:cNvPicPr>
          <p:nvPr/>
        </p:nvPicPr>
        <p:blipFill>
          <a:blip r:embed="rId1"/>
          <a:stretch>
            <a:fillRect/>
          </a:stretch>
        </p:blipFill>
        <p:spPr>
          <a:xfrm>
            <a:off x="1737360" y="1965960"/>
            <a:ext cx="640080" cy="640080"/>
          </a:xfrm>
          <a:prstGeom prst="rect">
            <a:avLst/>
          </a:prstGeom>
        </p:spPr>
      </p:pic>
      <p:sp>
        <p:nvSpPr>
          <p:cNvPr id="6" name="Text 3"/>
          <p:cNvSpPr txBox="1"/>
          <p:nvPr/>
        </p:nvSpPr>
        <p:spPr>
          <a:xfrm>
            <a:off x="594360" y="3063240"/>
            <a:ext cx="2926080" cy="365760"/>
          </a:xfrm>
          <a:prstGeom prst="rect">
            <a:avLst/>
          </a:prstGeom>
          <a:noFill/>
          <a:ln/>
        </p:spPr>
        <p:txBody>
          <a:bodyPr wrap="square" lIns="0" tIns="0" rIns="0" bIns="0" rtlCol="0" anchor="t"/>
          <a:lstStyle/>
          <a:p>
            <a:pPr algn="ctr" indent="0" marL="0">
              <a:buNone/>
            </a:pPr>
            <a:r>
              <a:rPr lang="en-US" sz="2000" b="1" dirty="0">
                <a:solidFill>
                  <a:schemeClr val="tx2"/>
                </a:solidFill>
              </a:rPr>
              <a:t>Hazard</a:t>
            </a:r>
            <a:endParaRPr lang="en-US" sz="2000" dirty="0"/>
          </a:p>
        </p:txBody>
      </p:sp>
      <p:sp>
        <p:nvSpPr>
          <p:cNvPr id="7" name="Text 4"/>
          <p:cNvSpPr txBox="1"/>
          <p:nvPr/>
        </p:nvSpPr>
        <p:spPr>
          <a:xfrm>
            <a:off x="594360" y="3447288"/>
            <a:ext cx="2926080" cy="365760"/>
          </a:xfrm>
          <a:prstGeom prst="rect">
            <a:avLst/>
          </a:prstGeom>
          <a:noFill/>
          <a:ln/>
        </p:spPr>
        <p:txBody>
          <a:bodyPr wrap="square" lIns="0" tIns="0" rIns="0" bIns="0" rtlCol="0" anchor="t"/>
          <a:lstStyle/>
          <a:p>
            <a:pPr algn="ctr" indent="0" marL="0">
              <a:buNone/>
            </a:pPr>
            <a:r>
              <a:rPr lang="en-US" sz="1400" dirty="0">
                <a:solidFill>
                  <a:schemeClr val="tx1"/>
                </a:solidFill>
              </a:rPr>
              <a:t>Heavy rain, steep terrain, big rivers</a:t>
            </a:r>
            <a:endParaRPr lang="en-US" sz="1400" dirty="0"/>
          </a:p>
        </p:txBody>
      </p:sp>
      <p:sp>
        <p:nvSpPr>
          <p:cNvPr id="8" name="Text 5"/>
          <p:cNvSpPr txBox="1"/>
          <p:nvPr/>
        </p:nvSpPr>
        <p:spPr>
          <a:xfrm>
            <a:off x="3246120" y="1874520"/>
            <a:ext cx="1005840" cy="822960"/>
          </a:xfrm>
          <a:prstGeom prst="rect">
            <a:avLst/>
          </a:prstGeom>
          <a:noFill/>
          <a:ln/>
        </p:spPr>
        <p:txBody>
          <a:bodyPr wrap="square" lIns="0" tIns="0" rIns="0" bIns="0" rtlCol="0" anchor="ctr"/>
          <a:lstStyle/>
          <a:p>
            <a:pPr algn="ctr" indent="0" marL="0">
              <a:buNone/>
            </a:pPr>
            <a:r>
              <a:rPr lang="en-US" sz="4400" b="1" dirty="0">
                <a:solidFill>
                  <a:schemeClr val="accent4"/>
                </a:solidFill>
              </a:rPr>
              <a:t>×</a:t>
            </a:r>
            <a:endParaRPr lang="en-US" sz="4400" dirty="0"/>
          </a:p>
        </p:txBody>
      </p:sp>
      <p:sp>
        <p:nvSpPr>
          <p:cNvPr id="9" name="Exposure tile"/>
          <p:cNvSpPr/>
          <p:nvPr/>
        </p:nvSpPr>
        <p:spPr>
          <a:xfrm>
            <a:off x="5367528" y="1645920"/>
            <a:ext cx="1280160" cy="1280160"/>
          </a:xfrm>
          <a:prstGeom prst="roundRect">
            <a:avLst>
              <a:gd name="adj" fmla="val 22000"/>
            </a:avLst>
          </a:prstGeom>
          <a:solidFill>
            <a:srgbClr val="E6F1F8"/>
          </a:solidFill>
          <a:ln/>
        </p:spPr>
      </p:sp>
      <p:pic>
        <p:nvPicPr>
          <p:cNvPr id="10" name="Exposure icon" descr="Exposure">    </p:cNvPr>
          <p:cNvPicPr>
            <a:picLocks noChangeAspect="1"/>
          </p:cNvPicPr>
          <p:nvPr/>
        </p:nvPicPr>
        <p:blipFill>
          <a:blip r:embed="rId2"/>
          <a:stretch>
            <a:fillRect/>
          </a:stretch>
        </p:blipFill>
        <p:spPr>
          <a:xfrm>
            <a:off x="5687568" y="1965960"/>
            <a:ext cx="640080" cy="640080"/>
          </a:xfrm>
          <a:prstGeom prst="rect">
            <a:avLst/>
          </a:prstGeom>
        </p:spPr>
      </p:pic>
      <p:sp>
        <p:nvSpPr>
          <p:cNvPr id="11" name="Text 7"/>
          <p:cNvSpPr txBox="1"/>
          <p:nvPr/>
        </p:nvSpPr>
        <p:spPr>
          <a:xfrm>
            <a:off x="4544568" y="3063240"/>
            <a:ext cx="2926080" cy="365760"/>
          </a:xfrm>
          <a:prstGeom prst="rect">
            <a:avLst/>
          </a:prstGeom>
          <a:noFill/>
          <a:ln/>
        </p:spPr>
        <p:txBody>
          <a:bodyPr wrap="square" lIns="0" tIns="0" rIns="0" bIns="0" rtlCol="0" anchor="t"/>
          <a:lstStyle/>
          <a:p>
            <a:pPr algn="ctr" indent="0" marL="0">
              <a:buNone/>
            </a:pPr>
            <a:r>
              <a:rPr lang="en-US" sz="2000" b="1" dirty="0">
                <a:solidFill>
                  <a:schemeClr val="tx2"/>
                </a:solidFill>
              </a:rPr>
              <a:t>Exposure</a:t>
            </a:r>
            <a:endParaRPr lang="en-US" sz="2000" dirty="0"/>
          </a:p>
        </p:txBody>
      </p:sp>
      <p:sp>
        <p:nvSpPr>
          <p:cNvPr id="12" name="Text 8"/>
          <p:cNvSpPr txBox="1"/>
          <p:nvPr/>
        </p:nvSpPr>
        <p:spPr>
          <a:xfrm>
            <a:off x="4544568" y="3447288"/>
            <a:ext cx="2926080" cy="365760"/>
          </a:xfrm>
          <a:prstGeom prst="rect">
            <a:avLst/>
          </a:prstGeom>
          <a:noFill/>
          <a:ln/>
        </p:spPr>
        <p:txBody>
          <a:bodyPr wrap="square" lIns="0" tIns="0" rIns="0" bIns="0" rtlCol="0" anchor="t"/>
          <a:lstStyle/>
          <a:p>
            <a:pPr algn="ctr" indent="0" marL="0">
              <a:buNone/>
            </a:pPr>
            <a:r>
              <a:rPr lang="en-US" sz="1400" dirty="0">
                <a:solidFill>
                  <a:schemeClr val="tx1"/>
                </a:solidFill>
              </a:rPr>
              <a:t>People, hospitals, schools, hydropower</a:t>
            </a:r>
            <a:endParaRPr lang="en-US" sz="1400" dirty="0"/>
          </a:p>
        </p:txBody>
      </p:sp>
      <p:sp>
        <p:nvSpPr>
          <p:cNvPr id="13" name="Text 9"/>
          <p:cNvSpPr txBox="1"/>
          <p:nvPr/>
        </p:nvSpPr>
        <p:spPr>
          <a:xfrm>
            <a:off x="7196328" y="1874520"/>
            <a:ext cx="1005840" cy="822960"/>
          </a:xfrm>
          <a:prstGeom prst="rect">
            <a:avLst/>
          </a:prstGeom>
          <a:noFill/>
          <a:ln/>
        </p:spPr>
        <p:txBody>
          <a:bodyPr wrap="square" lIns="0" tIns="0" rIns="0" bIns="0" rtlCol="0" anchor="ctr"/>
          <a:lstStyle/>
          <a:p>
            <a:pPr algn="ctr" indent="0" marL="0">
              <a:buNone/>
            </a:pPr>
            <a:r>
              <a:rPr lang="en-US" sz="4400" b="1" dirty="0">
                <a:solidFill>
                  <a:schemeClr val="accent4"/>
                </a:solidFill>
              </a:rPr>
              <a:t>×</a:t>
            </a:r>
            <a:endParaRPr lang="en-US" sz="4400" dirty="0"/>
          </a:p>
        </p:txBody>
      </p:sp>
      <p:sp>
        <p:nvSpPr>
          <p:cNvPr id="14" name="Vulnerability tile"/>
          <p:cNvSpPr/>
          <p:nvPr/>
        </p:nvSpPr>
        <p:spPr>
          <a:xfrm>
            <a:off x="9317736" y="1645920"/>
            <a:ext cx="1280160" cy="1280160"/>
          </a:xfrm>
          <a:prstGeom prst="roundRect">
            <a:avLst>
              <a:gd name="adj" fmla="val 22000"/>
            </a:avLst>
          </a:prstGeom>
          <a:solidFill>
            <a:srgbClr val="E6F1F8"/>
          </a:solidFill>
          <a:ln/>
        </p:spPr>
      </p:sp>
      <p:pic>
        <p:nvPicPr>
          <p:cNvPr id="15" name="Vulnerability icon" descr="Vulnerability">    </p:cNvPr>
          <p:cNvPicPr>
            <a:picLocks noChangeAspect="1"/>
          </p:cNvPicPr>
          <p:nvPr/>
        </p:nvPicPr>
        <p:blipFill>
          <a:blip r:embed="rId3"/>
          <a:stretch>
            <a:fillRect/>
          </a:stretch>
        </p:blipFill>
        <p:spPr>
          <a:xfrm>
            <a:off x="9637776" y="1965960"/>
            <a:ext cx="640080" cy="640080"/>
          </a:xfrm>
          <a:prstGeom prst="rect">
            <a:avLst/>
          </a:prstGeom>
        </p:spPr>
      </p:pic>
      <p:sp>
        <p:nvSpPr>
          <p:cNvPr id="16" name="Text 11"/>
          <p:cNvSpPr txBox="1"/>
          <p:nvPr/>
        </p:nvSpPr>
        <p:spPr>
          <a:xfrm>
            <a:off x="8494776" y="3063240"/>
            <a:ext cx="2926080" cy="365760"/>
          </a:xfrm>
          <a:prstGeom prst="rect">
            <a:avLst/>
          </a:prstGeom>
          <a:noFill/>
          <a:ln/>
        </p:spPr>
        <p:txBody>
          <a:bodyPr wrap="square" lIns="0" tIns="0" rIns="0" bIns="0" rtlCol="0" anchor="t"/>
          <a:lstStyle/>
          <a:p>
            <a:pPr algn="ctr" indent="0" marL="0">
              <a:buNone/>
            </a:pPr>
            <a:r>
              <a:rPr lang="en-US" sz="2000" b="1" dirty="0">
                <a:solidFill>
                  <a:schemeClr val="tx2"/>
                </a:solidFill>
              </a:rPr>
              <a:t>Vulnerability</a:t>
            </a:r>
            <a:endParaRPr lang="en-US" sz="2000" dirty="0"/>
          </a:p>
        </p:txBody>
      </p:sp>
      <p:sp>
        <p:nvSpPr>
          <p:cNvPr id="17" name="Text 12"/>
          <p:cNvSpPr txBox="1"/>
          <p:nvPr/>
        </p:nvSpPr>
        <p:spPr>
          <a:xfrm>
            <a:off x="8494776" y="3447288"/>
            <a:ext cx="2926080" cy="365760"/>
          </a:xfrm>
          <a:prstGeom prst="rect">
            <a:avLst/>
          </a:prstGeom>
          <a:noFill/>
          <a:ln/>
        </p:spPr>
        <p:txBody>
          <a:bodyPr wrap="square" lIns="0" tIns="0" rIns="0" bIns="0" rtlCol="0" anchor="t"/>
          <a:lstStyle/>
          <a:p>
            <a:pPr algn="ctr" indent="0" marL="0">
              <a:buNone/>
            </a:pPr>
            <a:r>
              <a:rPr lang="en-US" sz="1400" dirty="0">
                <a:solidFill>
                  <a:schemeClr val="tx1"/>
                </a:solidFill>
              </a:rPr>
              <a:t>Few roads, overstretched hospitals</a:t>
            </a:r>
            <a:endParaRPr lang="en-US" sz="1400" dirty="0"/>
          </a:p>
        </p:txBody>
      </p:sp>
      <p:sp>
        <p:nvSpPr>
          <p:cNvPr id="18" name="step 1"/>
          <p:cNvSpPr/>
          <p:nvPr/>
        </p:nvSpPr>
        <p:spPr>
          <a:xfrm>
            <a:off x="548640" y="4526280"/>
            <a:ext cx="3474720" cy="1508760"/>
          </a:xfrm>
          <a:prstGeom prst="roundRect">
            <a:avLst>
              <a:gd name="adj" fmla="val 7273"/>
            </a:avLst>
          </a:prstGeom>
          <a:solidFill>
            <a:schemeClr val="bg1"/>
          </a:solidFill>
          <a:ln w="9525">
            <a:solidFill>
              <a:srgbClr val="E2E8F0"/>
            </a:solidFill>
            <a:prstDash val="solid"/>
          </a:ln>
        </p:spPr>
      </p:sp>
      <p:sp>
        <p:nvSpPr>
          <p:cNvPr id="19" name="Text 14"/>
          <p:cNvSpPr txBox="1"/>
          <p:nvPr/>
        </p:nvSpPr>
        <p:spPr>
          <a:xfrm>
            <a:off x="822960" y="4709160"/>
            <a:ext cx="292608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1  MEASURE</a:t>
            </a:r>
            <a:endParaRPr lang="en-US" sz="1400" dirty="0"/>
          </a:p>
        </p:txBody>
      </p:sp>
      <p:sp>
        <p:nvSpPr>
          <p:cNvPr id="20" name="Text 15"/>
          <p:cNvSpPr txBox="1"/>
          <p:nvPr/>
        </p:nvSpPr>
        <p:spPr>
          <a:xfrm>
            <a:off x="822960" y="5074920"/>
            <a:ext cx="2926080" cy="822960"/>
          </a:xfrm>
          <a:prstGeom prst="rect">
            <a:avLst/>
          </a:prstGeom>
          <a:noFill/>
          <a:ln/>
        </p:spPr>
        <p:txBody>
          <a:bodyPr wrap="square" lIns="0" tIns="0" rIns="0" bIns="0" rtlCol="0" anchor="t"/>
          <a:lstStyle/>
          <a:p>
            <a:pPr indent="0" marL="0">
              <a:buNone/>
            </a:pPr>
            <a:r>
              <a:rPr lang="en-US" sz="1400" dirty="0">
                <a:solidFill>
                  <a:schemeClr val="tx1"/>
                </a:solidFill>
              </a:rPr>
              <a:t>Score all 77 districts on hazard, exposure and vulnerability</a:t>
            </a:r>
            <a:endParaRPr lang="en-US" sz="1400" dirty="0"/>
          </a:p>
        </p:txBody>
      </p:sp>
      <p:sp>
        <p:nvSpPr>
          <p:cNvPr id="21" name="step 2"/>
          <p:cNvSpPr/>
          <p:nvPr/>
        </p:nvSpPr>
        <p:spPr>
          <a:xfrm>
            <a:off x="4361688" y="4526280"/>
            <a:ext cx="3474720" cy="1508760"/>
          </a:xfrm>
          <a:prstGeom prst="roundRect">
            <a:avLst>
              <a:gd name="adj" fmla="val 7273"/>
            </a:avLst>
          </a:prstGeom>
          <a:solidFill>
            <a:schemeClr val="bg1"/>
          </a:solidFill>
          <a:ln w="9525">
            <a:solidFill>
              <a:srgbClr val="E2E8F0"/>
            </a:solidFill>
            <a:prstDash val="solid"/>
          </a:ln>
        </p:spPr>
      </p:sp>
      <p:sp>
        <p:nvSpPr>
          <p:cNvPr id="22" name="Text 17"/>
          <p:cNvSpPr txBox="1"/>
          <p:nvPr/>
        </p:nvSpPr>
        <p:spPr>
          <a:xfrm>
            <a:off x="4636008" y="4709160"/>
            <a:ext cx="292608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2  TEST</a:t>
            </a:r>
            <a:endParaRPr lang="en-US" sz="1400" dirty="0"/>
          </a:p>
        </p:txBody>
      </p:sp>
      <p:sp>
        <p:nvSpPr>
          <p:cNvPr id="23" name="Text 18"/>
          <p:cNvSpPr txBox="1"/>
          <p:nvPr/>
        </p:nvSpPr>
        <p:spPr>
          <a:xfrm>
            <a:off x="4636008" y="5074920"/>
            <a:ext cx="2926080" cy="822960"/>
          </a:xfrm>
          <a:prstGeom prst="rect">
            <a:avLst/>
          </a:prstGeom>
          <a:noFill/>
          <a:ln/>
        </p:spPr>
        <p:txBody>
          <a:bodyPr wrap="square" lIns="0" tIns="0" rIns="0" bIns="0" rtlCol="0" anchor="t"/>
          <a:lstStyle/>
          <a:p>
            <a:pPr indent="0" marL="0">
              <a:buNone/>
            </a:pPr>
            <a:r>
              <a:rPr lang="en-US" sz="1400" dirty="0">
                <a:solidFill>
                  <a:schemeClr val="tx1"/>
                </a:solidFill>
              </a:rPr>
              <a:t>Compare scores with 12,341 recorded disasters (after cleaning), 2011-2026</a:t>
            </a:r>
            <a:endParaRPr lang="en-US" sz="1400" dirty="0"/>
          </a:p>
        </p:txBody>
      </p:sp>
      <p:sp>
        <p:nvSpPr>
          <p:cNvPr id="24" name="step 3"/>
          <p:cNvSpPr/>
          <p:nvPr/>
        </p:nvSpPr>
        <p:spPr>
          <a:xfrm>
            <a:off x="8174736" y="4526280"/>
            <a:ext cx="3474720" cy="1508760"/>
          </a:xfrm>
          <a:prstGeom prst="roundRect">
            <a:avLst>
              <a:gd name="adj" fmla="val 7273"/>
            </a:avLst>
          </a:prstGeom>
          <a:solidFill>
            <a:schemeClr val="bg1"/>
          </a:solidFill>
          <a:ln w="9525">
            <a:solidFill>
              <a:srgbClr val="E2E8F0"/>
            </a:solidFill>
            <a:prstDash val="solid"/>
          </a:ln>
        </p:spPr>
      </p:sp>
      <p:sp>
        <p:nvSpPr>
          <p:cNvPr id="25" name="Text 20"/>
          <p:cNvSpPr txBox="1"/>
          <p:nvPr/>
        </p:nvSpPr>
        <p:spPr>
          <a:xfrm>
            <a:off x="8449056" y="4709160"/>
            <a:ext cx="292608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3  INVEST</a:t>
            </a:r>
            <a:endParaRPr lang="en-US" sz="1400" dirty="0"/>
          </a:p>
        </p:txBody>
      </p:sp>
      <p:sp>
        <p:nvSpPr>
          <p:cNvPr id="26" name="Text 21"/>
          <p:cNvSpPr txBox="1"/>
          <p:nvPr/>
        </p:nvSpPr>
        <p:spPr>
          <a:xfrm>
            <a:off x="8449056" y="5074920"/>
            <a:ext cx="2926080" cy="822960"/>
          </a:xfrm>
          <a:prstGeom prst="rect">
            <a:avLst/>
          </a:prstGeom>
          <a:noFill/>
          <a:ln/>
        </p:spPr>
        <p:txBody>
          <a:bodyPr wrap="square" lIns="0" tIns="0" rIns="0" bIns="0" rtlCol="0" anchor="t"/>
          <a:lstStyle/>
          <a:p>
            <a:pPr indent="0" marL="0">
              <a:buNone/>
            </a:pPr>
            <a:r>
              <a:rPr lang="en-US" sz="1400" dirty="0">
                <a:solidFill>
                  <a:schemeClr val="tx1"/>
                </a:solidFill>
              </a:rPr>
              <a:t>Allocate USD 100M, every dollar tied to a named finding</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DATA</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Four datasets, four flaws fixed first</a:t>
            </a:r>
            <a:endParaRPr lang="en-US" sz="3400" dirty="0"/>
          </a:p>
        </p:txBody>
      </p:sp>
      <p:sp>
        <p:nvSpPr>
          <p:cNvPr id="4" name="Text 2"/>
          <p:cNvSpPr txBox="1"/>
          <p:nvPr/>
        </p:nvSpPr>
        <p:spPr>
          <a:xfrm>
            <a:off x="548640" y="1645920"/>
            <a:ext cx="5394960" cy="365760"/>
          </a:xfrm>
          <a:prstGeom prst="rect">
            <a:avLst/>
          </a:prstGeom>
          <a:noFill/>
          <a:ln/>
        </p:spPr>
        <p:txBody>
          <a:bodyPr wrap="square" lIns="0" tIns="0" rIns="0" bIns="0" rtlCol="0" anchor="t"/>
          <a:lstStyle/>
          <a:p>
            <a:pPr indent="0" marL="0">
              <a:buNone/>
            </a:pPr>
            <a:r>
              <a:rPr lang="en-US" sz="1800" b="1" dirty="0">
                <a:solidFill>
                  <a:schemeClr val="tx2"/>
                </a:solidFill>
              </a:rPr>
              <a:t>What we used</a:t>
            </a:r>
            <a:endParaRPr lang="en-US" sz="1800" dirty="0"/>
          </a:p>
        </p:txBody>
      </p:sp>
      <p:sp>
        <p:nvSpPr>
          <p:cNvPr id="5" name="Climate: NASA POWER tile"/>
          <p:cNvSpPr/>
          <p:nvPr/>
        </p:nvSpPr>
        <p:spPr>
          <a:xfrm>
            <a:off x="548640" y="2194560"/>
            <a:ext cx="640080" cy="640080"/>
          </a:xfrm>
          <a:prstGeom prst="roundRect">
            <a:avLst>
              <a:gd name="adj" fmla="val 22000"/>
            </a:avLst>
          </a:prstGeom>
          <a:solidFill>
            <a:srgbClr val="E6F1F8"/>
          </a:solidFill>
          <a:ln/>
        </p:spPr>
      </p:sp>
      <p:pic>
        <p:nvPicPr>
          <p:cNvPr id="6" name="Climate: NASA POWER icon" descr="Climate: NASA POWER">    </p:cNvPr>
          <p:cNvPicPr>
            <a:picLocks noChangeAspect="1"/>
          </p:cNvPicPr>
          <p:nvPr/>
        </p:nvPicPr>
        <p:blipFill>
          <a:blip r:embed="rId1"/>
          <a:stretch>
            <a:fillRect/>
          </a:stretch>
        </p:blipFill>
        <p:spPr>
          <a:xfrm>
            <a:off x="708660" y="2354580"/>
            <a:ext cx="320040" cy="320040"/>
          </a:xfrm>
          <a:prstGeom prst="rect">
            <a:avLst/>
          </a:prstGeom>
        </p:spPr>
      </p:pic>
      <p:sp>
        <p:nvSpPr>
          <p:cNvPr id="7" name="Text 4"/>
          <p:cNvSpPr txBox="1"/>
          <p:nvPr/>
        </p:nvSpPr>
        <p:spPr>
          <a:xfrm>
            <a:off x="1417320" y="2194560"/>
            <a:ext cx="4572000" cy="320040"/>
          </a:xfrm>
          <a:prstGeom prst="rect">
            <a:avLst/>
          </a:prstGeom>
          <a:noFill/>
          <a:ln/>
        </p:spPr>
        <p:txBody>
          <a:bodyPr wrap="square" lIns="0" tIns="0" rIns="0" bIns="0" rtlCol="0" anchor="t"/>
          <a:lstStyle/>
          <a:p>
            <a:pPr indent="0" marL="0">
              <a:buNone/>
            </a:pPr>
            <a:r>
              <a:rPr lang="en-US" sz="1500" b="1" dirty="0">
                <a:solidFill>
                  <a:schemeClr val="tx2"/>
                </a:solidFill>
              </a:rPr>
              <a:t>Climate: NASA POWER</a:t>
            </a:r>
            <a:endParaRPr lang="en-US" sz="1500" dirty="0"/>
          </a:p>
        </p:txBody>
      </p:sp>
      <p:sp>
        <p:nvSpPr>
          <p:cNvPr id="8" name="Text 5"/>
          <p:cNvSpPr txBox="1"/>
          <p:nvPr/>
        </p:nvSpPr>
        <p:spPr>
          <a:xfrm>
            <a:off x="1417320" y="2532888"/>
            <a:ext cx="4572000" cy="320040"/>
          </a:xfrm>
          <a:prstGeom prst="rect">
            <a:avLst/>
          </a:prstGeom>
          <a:noFill/>
          <a:ln/>
        </p:spPr>
        <p:txBody>
          <a:bodyPr wrap="square" lIns="0" tIns="0" rIns="0" bIns="0" rtlCol="0" anchor="t"/>
          <a:lstStyle/>
          <a:p>
            <a:pPr indent="0" marL="0">
              <a:buNone/>
            </a:pPr>
            <a:r>
              <a:rPr lang="en-US" sz="1300" dirty="0">
                <a:solidFill>
                  <a:srgbClr val="526579"/>
                </a:solidFill>
              </a:rPr>
              <a:t>Daily rainfall and temperature, 1990-2026</a:t>
            </a:r>
            <a:endParaRPr lang="en-US" sz="1300" dirty="0"/>
          </a:p>
        </p:txBody>
      </p:sp>
      <p:sp>
        <p:nvSpPr>
          <p:cNvPr id="9" name="Terrain and rivers: HydroSHEDS tile"/>
          <p:cNvSpPr/>
          <p:nvPr/>
        </p:nvSpPr>
        <p:spPr>
          <a:xfrm>
            <a:off x="548640" y="3218688"/>
            <a:ext cx="640080" cy="640080"/>
          </a:xfrm>
          <a:prstGeom prst="roundRect">
            <a:avLst>
              <a:gd name="adj" fmla="val 22000"/>
            </a:avLst>
          </a:prstGeom>
          <a:solidFill>
            <a:srgbClr val="E6F1F8"/>
          </a:solidFill>
          <a:ln/>
        </p:spPr>
      </p:sp>
      <p:pic>
        <p:nvPicPr>
          <p:cNvPr id="10" name="Terrain and rivers: HydroSHEDS icon" descr="Terrain and rivers: HydroSHEDS">    </p:cNvPr>
          <p:cNvPicPr>
            <a:picLocks noChangeAspect="1"/>
          </p:cNvPicPr>
          <p:nvPr/>
        </p:nvPicPr>
        <p:blipFill>
          <a:blip r:embed="rId2"/>
          <a:stretch>
            <a:fillRect/>
          </a:stretch>
        </p:blipFill>
        <p:spPr>
          <a:xfrm>
            <a:off x="708660" y="3378708"/>
            <a:ext cx="320040" cy="320040"/>
          </a:xfrm>
          <a:prstGeom prst="rect">
            <a:avLst/>
          </a:prstGeom>
        </p:spPr>
      </p:pic>
      <p:sp>
        <p:nvSpPr>
          <p:cNvPr id="11" name="Text 7"/>
          <p:cNvSpPr txBox="1"/>
          <p:nvPr/>
        </p:nvSpPr>
        <p:spPr>
          <a:xfrm>
            <a:off x="1417320" y="3218688"/>
            <a:ext cx="4572000" cy="320040"/>
          </a:xfrm>
          <a:prstGeom prst="rect">
            <a:avLst/>
          </a:prstGeom>
          <a:noFill/>
          <a:ln/>
        </p:spPr>
        <p:txBody>
          <a:bodyPr wrap="square" lIns="0" tIns="0" rIns="0" bIns="0" rtlCol="0" anchor="t"/>
          <a:lstStyle/>
          <a:p>
            <a:pPr indent="0" marL="0">
              <a:buNone/>
            </a:pPr>
            <a:r>
              <a:rPr lang="en-US" sz="1500" b="1" dirty="0">
                <a:solidFill>
                  <a:schemeClr val="tx2"/>
                </a:solidFill>
              </a:rPr>
              <a:t>Terrain and rivers: HydroSHEDS</a:t>
            </a:r>
            <a:endParaRPr lang="en-US" sz="1500" dirty="0"/>
          </a:p>
        </p:txBody>
      </p:sp>
      <p:sp>
        <p:nvSpPr>
          <p:cNvPr id="12" name="Text 8"/>
          <p:cNvSpPr txBox="1"/>
          <p:nvPr/>
        </p:nvSpPr>
        <p:spPr>
          <a:xfrm>
            <a:off x="1417320" y="3557016"/>
            <a:ext cx="4572000" cy="320040"/>
          </a:xfrm>
          <a:prstGeom prst="rect">
            <a:avLst/>
          </a:prstGeom>
          <a:noFill/>
          <a:ln/>
        </p:spPr>
        <p:txBody>
          <a:bodyPr wrap="square" lIns="0" tIns="0" rIns="0" bIns="0" rtlCol="0" anchor="t"/>
          <a:lstStyle/>
          <a:p>
            <a:pPr indent="0" marL="0">
              <a:buNone/>
            </a:pPr>
            <a:r>
              <a:rPr lang="en-US" sz="1300" dirty="0">
                <a:solidFill>
                  <a:srgbClr val="526579"/>
                </a:solidFill>
              </a:rPr>
              <a:t>Elevation, river size, distance to rivers</a:t>
            </a:r>
            <a:endParaRPr lang="en-US" sz="1300" dirty="0"/>
          </a:p>
        </p:txBody>
      </p:sp>
      <p:sp>
        <p:nvSpPr>
          <p:cNvPr id="13" name="Exposure: Census 2021, OpenStreetMap tile"/>
          <p:cNvSpPr/>
          <p:nvPr/>
        </p:nvSpPr>
        <p:spPr>
          <a:xfrm>
            <a:off x="548640" y="4242816"/>
            <a:ext cx="640080" cy="640080"/>
          </a:xfrm>
          <a:prstGeom prst="roundRect">
            <a:avLst>
              <a:gd name="adj" fmla="val 22000"/>
            </a:avLst>
          </a:prstGeom>
          <a:solidFill>
            <a:srgbClr val="E6F1F8"/>
          </a:solidFill>
          <a:ln/>
        </p:spPr>
      </p:sp>
      <p:pic>
        <p:nvPicPr>
          <p:cNvPr id="14" name="Exposure: Census 2021, OpenStreetMap icon" descr="Exposure: Census 2021, OpenStreetMap">    </p:cNvPr>
          <p:cNvPicPr>
            <a:picLocks noChangeAspect="1"/>
          </p:cNvPicPr>
          <p:nvPr/>
        </p:nvPicPr>
        <p:blipFill>
          <a:blip r:embed="rId3"/>
          <a:stretch>
            <a:fillRect/>
          </a:stretch>
        </p:blipFill>
        <p:spPr>
          <a:xfrm>
            <a:off x="708660" y="4402836"/>
            <a:ext cx="320040" cy="320040"/>
          </a:xfrm>
          <a:prstGeom prst="rect">
            <a:avLst/>
          </a:prstGeom>
        </p:spPr>
      </p:pic>
      <p:sp>
        <p:nvSpPr>
          <p:cNvPr id="15" name="Text 10"/>
          <p:cNvSpPr txBox="1"/>
          <p:nvPr/>
        </p:nvSpPr>
        <p:spPr>
          <a:xfrm>
            <a:off x="1417320" y="4242816"/>
            <a:ext cx="4572000" cy="320040"/>
          </a:xfrm>
          <a:prstGeom prst="rect">
            <a:avLst/>
          </a:prstGeom>
          <a:noFill/>
          <a:ln/>
        </p:spPr>
        <p:txBody>
          <a:bodyPr wrap="square" lIns="0" tIns="0" rIns="0" bIns="0" rtlCol="0" anchor="t"/>
          <a:lstStyle/>
          <a:p>
            <a:pPr indent="0" marL="0">
              <a:buNone/>
            </a:pPr>
            <a:r>
              <a:rPr lang="en-US" sz="1500" b="1" dirty="0">
                <a:solidFill>
                  <a:schemeClr val="tx2"/>
                </a:solidFill>
              </a:rPr>
              <a:t>Exposure: Census 2021, OpenStreetMap</a:t>
            </a:r>
            <a:endParaRPr lang="en-US" sz="1500" dirty="0"/>
          </a:p>
        </p:txBody>
      </p:sp>
      <p:sp>
        <p:nvSpPr>
          <p:cNvPr id="16" name="Text 11"/>
          <p:cNvSpPr txBox="1"/>
          <p:nvPr/>
        </p:nvSpPr>
        <p:spPr>
          <a:xfrm>
            <a:off x="1417320" y="4581144"/>
            <a:ext cx="4572000" cy="320040"/>
          </a:xfrm>
          <a:prstGeom prst="rect">
            <a:avLst/>
          </a:prstGeom>
          <a:noFill/>
          <a:ln/>
        </p:spPr>
        <p:txBody>
          <a:bodyPr wrap="square" lIns="0" tIns="0" rIns="0" bIns="0" rtlCol="0" anchor="t"/>
          <a:lstStyle/>
          <a:p>
            <a:pPr indent="0" marL="0">
              <a:buNone/>
            </a:pPr>
            <a:r>
              <a:rPr lang="en-US" sz="1300" dirty="0">
                <a:solidFill>
                  <a:srgbClr val="526579"/>
                </a:solidFill>
              </a:rPr>
              <a:t>Population, hospitals, schools, roads, hydropower</a:t>
            </a:r>
            <a:endParaRPr lang="en-US" sz="1300" dirty="0"/>
          </a:p>
        </p:txBody>
      </p:sp>
      <p:sp>
        <p:nvSpPr>
          <p:cNvPr id="17" name="Disasters: BIPAD Portal tile"/>
          <p:cNvSpPr/>
          <p:nvPr/>
        </p:nvSpPr>
        <p:spPr>
          <a:xfrm>
            <a:off x="548640" y="5266944"/>
            <a:ext cx="640080" cy="640080"/>
          </a:xfrm>
          <a:prstGeom prst="roundRect">
            <a:avLst>
              <a:gd name="adj" fmla="val 22000"/>
            </a:avLst>
          </a:prstGeom>
          <a:solidFill>
            <a:srgbClr val="E6F1F8"/>
          </a:solidFill>
          <a:ln/>
        </p:spPr>
      </p:sp>
      <p:pic>
        <p:nvPicPr>
          <p:cNvPr id="18" name="Disasters: BIPAD Portal icon" descr="Disasters: BIPAD Portal">    </p:cNvPr>
          <p:cNvPicPr>
            <a:picLocks noChangeAspect="1"/>
          </p:cNvPicPr>
          <p:nvPr/>
        </p:nvPicPr>
        <p:blipFill>
          <a:blip r:embed="rId4"/>
          <a:stretch>
            <a:fillRect/>
          </a:stretch>
        </p:blipFill>
        <p:spPr>
          <a:xfrm>
            <a:off x="708660" y="5426964"/>
            <a:ext cx="320040" cy="320040"/>
          </a:xfrm>
          <a:prstGeom prst="rect">
            <a:avLst/>
          </a:prstGeom>
        </p:spPr>
      </p:pic>
      <p:sp>
        <p:nvSpPr>
          <p:cNvPr id="19" name="Text 13"/>
          <p:cNvSpPr txBox="1"/>
          <p:nvPr/>
        </p:nvSpPr>
        <p:spPr>
          <a:xfrm>
            <a:off x="1417320" y="5266944"/>
            <a:ext cx="4572000" cy="320040"/>
          </a:xfrm>
          <a:prstGeom prst="rect">
            <a:avLst/>
          </a:prstGeom>
          <a:noFill/>
          <a:ln/>
        </p:spPr>
        <p:txBody>
          <a:bodyPr wrap="square" lIns="0" tIns="0" rIns="0" bIns="0" rtlCol="0" anchor="t"/>
          <a:lstStyle/>
          <a:p>
            <a:pPr indent="0" marL="0">
              <a:buNone/>
            </a:pPr>
            <a:r>
              <a:rPr lang="en-US" sz="1500" b="1" dirty="0">
                <a:solidFill>
                  <a:schemeClr val="tx2"/>
                </a:solidFill>
              </a:rPr>
              <a:t>Disasters: BIPAD Portal</a:t>
            </a:r>
            <a:endParaRPr lang="en-US" sz="1500" dirty="0"/>
          </a:p>
        </p:txBody>
      </p:sp>
      <p:sp>
        <p:nvSpPr>
          <p:cNvPr id="20" name="Text 14"/>
          <p:cNvSpPr txBox="1"/>
          <p:nvPr/>
        </p:nvSpPr>
        <p:spPr>
          <a:xfrm>
            <a:off x="1417320" y="5605272"/>
            <a:ext cx="4572000" cy="320040"/>
          </a:xfrm>
          <a:prstGeom prst="rect">
            <a:avLst/>
          </a:prstGeom>
          <a:noFill/>
          <a:ln/>
        </p:spPr>
        <p:txBody>
          <a:bodyPr wrap="square" lIns="0" tIns="0" rIns="0" bIns="0" rtlCol="0" anchor="t"/>
          <a:lstStyle/>
          <a:p>
            <a:pPr indent="0" marL="0">
              <a:buNone/>
            </a:pPr>
            <a:r>
              <a:rPr lang="en-US" sz="1300" dirty="0">
                <a:solidFill>
                  <a:srgbClr val="526579"/>
                </a:solidFill>
              </a:rPr>
              <a:t>12,341 floods, landslides and rain events after removing duplicates</a:t>
            </a:r>
            <a:endParaRPr lang="en-US" sz="1300" dirty="0"/>
          </a:p>
        </p:txBody>
      </p:sp>
      <p:sp>
        <p:nvSpPr>
          <p:cNvPr id="21" name="Text 15"/>
          <p:cNvSpPr txBox="1"/>
          <p:nvPr/>
        </p:nvSpPr>
        <p:spPr>
          <a:xfrm>
            <a:off x="6355080" y="1645920"/>
            <a:ext cx="5303520" cy="365760"/>
          </a:xfrm>
          <a:prstGeom prst="rect">
            <a:avLst/>
          </a:prstGeom>
          <a:noFill/>
          <a:ln/>
        </p:spPr>
        <p:txBody>
          <a:bodyPr wrap="square" lIns="0" tIns="0" rIns="0" bIns="0" rtlCol="0" anchor="t"/>
          <a:lstStyle/>
          <a:p>
            <a:pPr indent="0" marL="0">
              <a:buNone/>
            </a:pPr>
            <a:r>
              <a:rPr lang="en-US" sz="1800" b="1" dirty="0">
                <a:solidFill>
                  <a:schemeClr val="tx2"/>
                </a:solidFill>
              </a:rPr>
              <a:t>What we corrected</a:t>
            </a:r>
            <a:endParaRPr lang="en-US" sz="1800" dirty="0"/>
          </a:p>
        </p:txBody>
      </p:sp>
      <p:sp>
        <p:nvSpPr>
          <p:cNvPr id="22" name="fix 1"/>
          <p:cNvSpPr/>
          <p:nvPr/>
        </p:nvSpPr>
        <p:spPr>
          <a:xfrm>
            <a:off x="6355080" y="2194560"/>
            <a:ext cx="2542032" cy="1828800"/>
          </a:xfrm>
          <a:prstGeom prst="roundRect">
            <a:avLst>
              <a:gd name="adj" fmla="val 6000"/>
            </a:avLst>
          </a:prstGeom>
          <a:solidFill>
            <a:schemeClr val="bg1"/>
          </a:solidFill>
          <a:ln w="9525">
            <a:solidFill>
              <a:srgbClr val="E2E8F0"/>
            </a:solidFill>
            <a:prstDash val="solid"/>
          </a:ln>
        </p:spPr>
      </p:sp>
      <p:sp>
        <p:nvSpPr>
          <p:cNvPr id="23" name="Text 17"/>
          <p:cNvSpPr txBox="1"/>
          <p:nvPr/>
        </p:nvSpPr>
        <p:spPr>
          <a:xfrm>
            <a:off x="6537960" y="2359152"/>
            <a:ext cx="2176272" cy="594360"/>
          </a:xfrm>
          <a:prstGeom prst="rect">
            <a:avLst/>
          </a:prstGeom>
          <a:noFill/>
          <a:ln/>
        </p:spPr>
        <p:txBody>
          <a:bodyPr wrap="square" lIns="0" tIns="0" rIns="0" bIns="0" rtlCol="0" anchor="t"/>
          <a:lstStyle/>
          <a:p>
            <a:pPr indent="0" marL="0">
              <a:buNone/>
            </a:pPr>
            <a:r>
              <a:rPr lang="en-US" sz="1400" b="1" dirty="0">
                <a:solidFill>
                  <a:schemeClr val="accent1"/>
                </a:solidFill>
              </a:rPr>
              <a:t>Rainfall doubles in 2004</a:t>
            </a:r>
            <a:endParaRPr lang="en-US" sz="1400" dirty="0"/>
          </a:p>
        </p:txBody>
      </p:sp>
      <p:sp>
        <p:nvSpPr>
          <p:cNvPr id="24" name="Text 18"/>
          <p:cNvSpPr txBox="1"/>
          <p:nvPr/>
        </p:nvSpPr>
        <p:spPr>
          <a:xfrm>
            <a:off x="6537960" y="2999232"/>
            <a:ext cx="2176272" cy="914400"/>
          </a:xfrm>
          <a:prstGeom prst="rect">
            <a:avLst/>
          </a:prstGeom>
          <a:noFill/>
          <a:ln/>
        </p:spPr>
        <p:txBody>
          <a:bodyPr wrap="square" lIns="0" tIns="0" rIns="0" bIns="0" rtlCol="0" anchor="t"/>
          <a:lstStyle/>
          <a:p>
            <a:pPr indent="0" marL="0">
              <a:buNone/>
            </a:pPr>
            <a:r>
              <a:rPr lang="en-US" sz="1300" dirty="0">
                <a:solidFill>
                  <a:schemeClr val="tx1"/>
                </a:solidFill>
              </a:rPr>
              <a:t>A satellite data-source change, not climate. Trends use 2004-2025 only.</a:t>
            </a:r>
            <a:endParaRPr lang="en-US" sz="1300" dirty="0"/>
          </a:p>
        </p:txBody>
      </p:sp>
      <p:sp>
        <p:nvSpPr>
          <p:cNvPr id="25" name="fix 2"/>
          <p:cNvSpPr/>
          <p:nvPr/>
        </p:nvSpPr>
        <p:spPr>
          <a:xfrm>
            <a:off x="9043416" y="2194560"/>
            <a:ext cx="2542032" cy="1828800"/>
          </a:xfrm>
          <a:prstGeom prst="roundRect">
            <a:avLst>
              <a:gd name="adj" fmla="val 6000"/>
            </a:avLst>
          </a:prstGeom>
          <a:solidFill>
            <a:schemeClr val="bg1"/>
          </a:solidFill>
          <a:ln w="9525">
            <a:solidFill>
              <a:srgbClr val="E2E8F0"/>
            </a:solidFill>
            <a:prstDash val="solid"/>
          </a:ln>
        </p:spPr>
      </p:sp>
      <p:sp>
        <p:nvSpPr>
          <p:cNvPr id="26" name="Text 20"/>
          <p:cNvSpPr txBox="1"/>
          <p:nvPr/>
        </p:nvSpPr>
        <p:spPr>
          <a:xfrm>
            <a:off x="9226296" y="2359152"/>
            <a:ext cx="2176272" cy="594360"/>
          </a:xfrm>
          <a:prstGeom prst="rect">
            <a:avLst/>
          </a:prstGeom>
          <a:noFill/>
          <a:ln/>
        </p:spPr>
        <p:txBody>
          <a:bodyPr wrap="square" lIns="0" tIns="0" rIns="0" bIns="0" rtlCol="0" anchor="t"/>
          <a:lstStyle/>
          <a:p>
            <a:pPr indent="0" marL="0">
              <a:buNone/>
            </a:pPr>
            <a:r>
              <a:rPr lang="en-US" sz="1400" b="1" dirty="0">
                <a:solidFill>
                  <a:schemeClr val="accent1"/>
                </a:solidFill>
              </a:rPr>
              <a:t>Only 45 of 77 rain series unique</a:t>
            </a:r>
            <a:endParaRPr lang="en-US" sz="1400" dirty="0"/>
          </a:p>
        </p:txBody>
      </p:sp>
      <p:sp>
        <p:nvSpPr>
          <p:cNvPr id="27" name="Text 21"/>
          <p:cNvSpPr txBox="1"/>
          <p:nvPr/>
        </p:nvSpPr>
        <p:spPr>
          <a:xfrm>
            <a:off x="9226296" y="2999232"/>
            <a:ext cx="2176272" cy="914400"/>
          </a:xfrm>
          <a:prstGeom prst="rect">
            <a:avLst/>
          </a:prstGeom>
          <a:noFill/>
          <a:ln/>
        </p:spPr>
        <p:txBody>
          <a:bodyPr wrap="square" lIns="0" tIns="0" rIns="0" bIns="0" rtlCol="0" anchor="t"/>
          <a:lstStyle/>
          <a:p>
            <a:pPr indent="0" marL="0">
              <a:buNone/>
            </a:pPr>
            <a:r>
              <a:rPr lang="en-US" sz="1300" dirty="0">
                <a:solidFill>
                  <a:schemeClr val="tx1"/>
                </a:solidFill>
              </a:rPr>
              <a:t>Neighbouring districts share a satellite cell. Each counted once.</a:t>
            </a:r>
            <a:endParaRPr lang="en-US" sz="1300" dirty="0"/>
          </a:p>
        </p:txBody>
      </p:sp>
      <p:sp>
        <p:nvSpPr>
          <p:cNvPr id="28" name="fix 3"/>
          <p:cNvSpPr/>
          <p:nvPr/>
        </p:nvSpPr>
        <p:spPr>
          <a:xfrm>
            <a:off x="6355080" y="4206240"/>
            <a:ext cx="2542032" cy="1828800"/>
          </a:xfrm>
          <a:prstGeom prst="roundRect">
            <a:avLst>
              <a:gd name="adj" fmla="val 6000"/>
            </a:avLst>
          </a:prstGeom>
          <a:solidFill>
            <a:schemeClr val="bg1"/>
          </a:solidFill>
          <a:ln w="9525">
            <a:solidFill>
              <a:srgbClr val="E2E8F0"/>
            </a:solidFill>
            <a:prstDash val="solid"/>
          </a:ln>
        </p:spPr>
      </p:sp>
      <p:sp>
        <p:nvSpPr>
          <p:cNvPr id="29" name="Text 23"/>
          <p:cNvSpPr txBox="1"/>
          <p:nvPr/>
        </p:nvSpPr>
        <p:spPr>
          <a:xfrm>
            <a:off x="6537960" y="4370832"/>
            <a:ext cx="2176272" cy="594360"/>
          </a:xfrm>
          <a:prstGeom prst="rect">
            <a:avLst/>
          </a:prstGeom>
          <a:noFill/>
          <a:ln/>
        </p:spPr>
        <p:txBody>
          <a:bodyPr wrap="square" lIns="0" tIns="0" rIns="0" bIns="0" rtlCol="0" anchor="t"/>
          <a:lstStyle/>
          <a:p>
            <a:pPr indent="0" marL="0">
              <a:buNone/>
            </a:pPr>
            <a:r>
              <a:rPr lang="en-US" sz="1400" b="1" dirty="0">
                <a:solidFill>
                  <a:schemeClr val="accent1"/>
                </a:solidFill>
              </a:rPr>
              <a:t>Slope data stuck near 90°</a:t>
            </a:r>
            <a:endParaRPr lang="en-US" sz="1400" dirty="0"/>
          </a:p>
        </p:txBody>
      </p:sp>
      <p:sp>
        <p:nvSpPr>
          <p:cNvPr id="30" name="Text 24"/>
          <p:cNvSpPr txBox="1"/>
          <p:nvPr/>
        </p:nvSpPr>
        <p:spPr>
          <a:xfrm>
            <a:off x="6537960" y="5010912"/>
            <a:ext cx="2176272" cy="914400"/>
          </a:xfrm>
          <a:prstGeom prst="rect">
            <a:avLst/>
          </a:prstGeom>
          <a:noFill/>
          <a:ln/>
        </p:spPr>
        <p:txBody>
          <a:bodyPr wrap="square" lIns="0" tIns="0" rIns="0" bIns="0" rtlCol="0" anchor="t"/>
          <a:lstStyle/>
          <a:p>
            <a:pPr indent="0" marL="0">
              <a:buNone/>
            </a:pPr>
            <a:r>
              <a:rPr lang="en-US" sz="1300" dirty="0">
                <a:solidFill>
                  <a:schemeClr val="tx1"/>
                </a:solidFill>
              </a:rPr>
              <a:t>A unit error upstream. Elevation spread used instead.</a:t>
            </a:r>
            <a:endParaRPr lang="en-US" sz="1300" dirty="0"/>
          </a:p>
        </p:txBody>
      </p:sp>
      <p:sp>
        <p:nvSpPr>
          <p:cNvPr id="31" name="fix 4"/>
          <p:cNvSpPr/>
          <p:nvPr/>
        </p:nvSpPr>
        <p:spPr>
          <a:xfrm>
            <a:off x="9043416" y="4206240"/>
            <a:ext cx="2542032" cy="1828800"/>
          </a:xfrm>
          <a:prstGeom prst="roundRect">
            <a:avLst>
              <a:gd name="adj" fmla="val 6000"/>
            </a:avLst>
          </a:prstGeom>
          <a:solidFill>
            <a:schemeClr val="bg1"/>
          </a:solidFill>
          <a:ln w="9525">
            <a:solidFill>
              <a:srgbClr val="E2E8F0"/>
            </a:solidFill>
            <a:prstDash val="solid"/>
          </a:ln>
        </p:spPr>
      </p:sp>
      <p:sp>
        <p:nvSpPr>
          <p:cNvPr id="32" name="Text 26"/>
          <p:cNvSpPr txBox="1"/>
          <p:nvPr/>
        </p:nvSpPr>
        <p:spPr>
          <a:xfrm>
            <a:off x="9226296" y="4370832"/>
            <a:ext cx="2176272" cy="594360"/>
          </a:xfrm>
          <a:prstGeom prst="rect">
            <a:avLst/>
          </a:prstGeom>
          <a:noFill/>
          <a:ln/>
        </p:spPr>
        <p:txBody>
          <a:bodyPr wrap="square" lIns="0" tIns="0" rIns="0" bIns="0" rtlCol="0" anchor="t"/>
          <a:lstStyle/>
          <a:p>
            <a:pPr indent="0" marL="0">
              <a:buNone/>
            </a:pPr>
            <a:r>
              <a:rPr lang="en-US" sz="1400" b="1" dirty="0">
                <a:solidFill>
                  <a:schemeClr val="accent1"/>
                </a:solidFill>
              </a:rPr>
              <a:t>2026 ends on 30 August</a:t>
            </a:r>
            <a:endParaRPr lang="en-US" sz="1400" dirty="0"/>
          </a:p>
        </p:txBody>
      </p:sp>
      <p:sp>
        <p:nvSpPr>
          <p:cNvPr id="33" name="Text 27"/>
          <p:cNvSpPr txBox="1"/>
          <p:nvPr/>
        </p:nvSpPr>
        <p:spPr>
          <a:xfrm>
            <a:off x="9226296" y="5010912"/>
            <a:ext cx="2176272" cy="914400"/>
          </a:xfrm>
          <a:prstGeom prst="rect">
            <a:avLst/>
          </a:prstGeom>
          <a:noFill/>
          <a:ln/>
        </p:spPr>
        <p:txBody>
          <a:bodyPr wrap="square" lIns="0" tIns="0" rIns="0" bIns="0" rtlCol="0" anchor="t"/>
          <a:lstStyle/>
          <a:p>
            <a:pPr indent="0" marL="0">
              <a:buNone/>
            </a:pPr>
            <a:r>
              <a:rPr lang="en-US" sz="1300" dirty="0">
                <a:solidFill>
                  <a:schemeClr val="tx1"/>
                </a:solidFill>
              </a:rPr>
              <a:t>A partial year. Excluded from annual totals.</a:t>
            </a:r>
            <a:endParaRPr lang="en-US" sz="13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CLIMATE  |  2004-2025</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Rainfall is rising about 22.1 mm a year</a:t>
            </a:r>
            <a:endParaRPr lang="en-US" sz="3400" dirty="0"/>
          </a:p>
        </p:txBody>
      </p:sp>
      <p:sp>
        <p:nvSpPr>
          <p:cNvPr id="4" name="tag F1"/>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F1</a:t>
            </a:r>
            <a:endParaRPr lang="en-US" sz="1100" dirty="0"/>
          </a:p>
        </p:txBody>
      </p:sp>
      <p:sp>
        <p:nvSpPr>
          <p:cNvPr id="6" name="chart panel"/>
          <p:cNvSpPr/>
          <p:nvPr/>
        </p:nvSpPr>
        <p:spPr>
          <a:xfrm>
            <a:off x="438912" y="1536192"/>
            <a:ext cx="7443216" cy="4745736"/>
          </a:xfrm>
          <a:prstGeom prst="roundRect">
            <a:avLst>
              <a:gd name="adj" fmla="val 2312"/>
            </a:avLst>
          </a:prstGeom>
          <a:solidFill>
            <a:schemeClr val="bg1"/>
          </a:solidFill>
          <a:ln w="9525">
            <a:solidFill>
              <a:srgbClr val="E2E8F0"/>
            </a:solidFill>
            <a:prstDash val="solid"/>
          </a:ln>
        </p:spPr>
      </p:sp>
      <p:graphicFrame>
        <p:nvGraphicFramePr>
          <p:cNvPr id="7" name="Chart 0" descr=""/>
          <p:cNvGraphicFramePr/>
          <p:nvPr/>
        </p:nvGraphicFramePr>
        <p:xfrm>
          <a:off x="548640" y="1645920"/>
          <a:ext cx="7223760" cy="45262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183880" y="1691640"/>
            <a:ext cx="3456432" cy="685800"/>
          </a:xfrm>
          <a:prstGeom prst="rect">
            <a:avLst/>
          </a:prstGeom>
          <a:noFill/>
          <a:ln/>
        </p:spPr>
        <p:txBody>
          <a:bodyPr wrap="square" lIns="0" tIns="0" rIns="0" bIns="0" rtlCol="0" anchor="t"/>
          <a:lstStyle/>
          <a:p>
            <a:pPr indent="0" marL="0">
              <a:buNone/>
            </a:pPr>
            <a:r>
              <a:rPr lang="en-US" sz="4000" b="1" dirty="0">
                <a:solidFill>
                  <a:schemeClr val="tx1"/>
                </a:solidFill>
                <a:latin typeface="Calibri" pitchFamily="34" charset="0"/>
                <a:ea typeface="Calibri" pitchFamily="34" charset="-122"/>
                <a:cs typeface="Calibri" pitchFamily="34" charset="-120"/>
              </a:rPr>
              <a:t>+22.1 mm</a:t>
            </a:r>
            <a:endParaRPr lang="en-US" sz="4000" dirty="0"/>
          </a:p>
        </p:txBody>
      </p:sp>
      <p:sp>
        <p:nvSpPr>
          <p:cNvPr id="9" name="Text 6"/>
          <p:cNvSpPr txBox="1"/>
          <p:nvPr/>
        </p:nvSpPr>
        <p:spPr>
          <a:xfrm>
            <a:off x="8183880" y="2404872"/>
            <a:ext cx="3456432" cy="548640"/>
          </a:xfrm>
          <a:prstGeom prst="rect">
            <a:avLst/>
          </a:prstGeom>
          <a:noFill/>
          <a:ln/>
        </p:spPr>
        <p:txBody>
          <a:bodyPr wrap="square" lIns="0" tIns="0" rIns="0" bIns="0" rtlCol="0" anchor="t"/>
          <a:lstStyle/>
          <a:p>
            <a:pPr indent="0" marL="0">
              <a:buNone/>
            </a:pPr>
            <a:r>
              <a:rPr lang="en-US" sz="1400" dirty="0">
                <a:solidFill>
                  <a:schemeClr val="tx1"/>
                </a:solidFill>
              </a:rPr>
              <a:t>per year since 2004 (statistically significant, p &lt; 0.001)</a:t>
            </a:r>
            <a:endParaRPr lang="en-US" sz="1400" dirty="0"/>
          </a:p>
        </p:txBody>
      </p:sp>
      <p:sp>
        <p:nvSpPr>
          <p:cNvPr id="10" name="Text 7"/>
          <p:cNvSpPr txBox="1"/>
          <p:nvPr/>
        </p:nvSpPr>
        <p:spPr>
          <a:xfrm>
            <a:off x="8183880" y="3200400"/>
            <a:ext cx="3456432" cy="685800"/>
          </a:xfrm>
          <a:prstGeom prst="rect">
            <a:avLst/>
          </a:prstGeom>
          <a:noFill/>
          <a:ln/>
        </p:spPr>
        <p:txBody>
          <a:bodyPr wrap="square" lIns="0" tIns="0" rIns="0" bIns="0" rtlCol="0" anchor="t"/>
          <a:lstStyle/>
          <a:p>
            <a:pPr indent="0" marL="0">
              <a:buNone/>
            </a:pPr>
            <a:r>
              <a:rPr lang="en-US" sz="4000" b="1" dirty="0">
                <a:solidFill>
                  <a:schemeClr val="tx1"/>
                </a:solidFill>
                <a:latin typeface="Calibri" pitchFamily="34" charset="0"/>
                <a:ea typeface="Calibri" pitchFamily="34" charset="-122"/>
                <a:cs typeface="Calibri" pitchFamily="34" charset="-120"/>
              </a:rPr>
              <a:t>+27%</a:t>
            </a:r>
            <a:endParaRPr lang="en-US" sz="4000" dirty="0"/>
          </a:p>
        </p:txBody>
      </p:sp>
      <p:sp>
        <p:nvSpPr>
          <p:cNvPr id="11" name="Text 8"/>
          <p:cNvSpPr txBox="1"/>
          <p:nvPr/>
        </p:nvSpPr>
        <p:spPr>
          <a:xfrm>
            <a:off x="8183880" y="3913632"/>
            <a:ext cx="3456432" cy="548640"/>
          </a:xfrm>
          <a:prstGeom prst="rect">
            <a:avLst/>
          </a:prstGeom>
          <a:noFill/>
          <a:ln/>
        </p:spPr>
        <p:txBody>
          <a:bodyPr wrap="square" lIns="0" tIns="0" rIns="0" bIns="0" rtlCol="0" anchor="t"/>
          <a:lstStyle/>
          <a:p>
            <a:pPr indent="0" marL="0">
              <a:buNone/>
            </a:pPr>
            <a:r>
              <a:rPr lang="en-US" sz="1400" dirty="0">
                <a:solidFill>
                  <a:schemeClr val="tx1"/>
                </a:solidFill>
              </a:rPr>
              <a:t>2020-25 vs 2004-19, versus a normal year-to-year swing of about 16%</a:t>
            </a:r>
            <a:endParaRPr lang="en-US" sz="1400" dirty="0"/>
          </a:p>
        </p:txBody>
      </p:sp>
      <p:sp>
        <p:nvSpPr>
          <p:cNvPr id="12" name="Text 9"/>
          <p:cNvSpPr txBox="1"/>
          <p:nvPr/>
        </p:nvSpPr>
        <p:spPr>
          <a:xfrm>
            <a:off x="8183880" y="4709160"/>
            <a:ext cx="3456432" cy="685800"/>
          </a:xfrm>
          <a:prstGeom prst="rect">
            <a:avLst/>
          </a:prstGeom>
          <a:noFill/>
          <a:ln/>
        </p:spPr>
        <p:txBody>
          <a:bodyPr wrap="square" lIns="0" tIns="0" rIns="0" bIns="0" rtlCol="0" anchor="t"/>
          <a:lstStyle/>
          <a:p>
            <a:pPr indent="0" marL="0">
              <a:buNone/>
            </a:pPr>
            <a:r>
              <a:rPr lang="en-US" sz="4000" b="1" dirty="0">
                <a:solidFill>
                  <a:schemeClr val="tx1"/>
                </a:solidFill>
                <a:latin typeface="Calibri" pitchFamily="34" charset="0"/>
                <a:ea typeface="Calibri" pitchFamily="34" charset="-122"/>
                <a:cs typeface="Calibri" pitchFamily="34" charset="-120"/>
              </a:rPr>
              <a:t>33 of 45</a:t>
            </a:r>
            <a:endParaRPr lang="en-US" sz="4000" dirty="0"/>
          </a:p>
        </p:txBody>
      </p:sp>
      <p:sp>
        <p:nvSpPr>
          <p:cNvPr id="13" name="Text 10"/>
          <p:cNvSpPr txBox="1"/>
          <p:nvPr/>
        </p:nvSpPr>
        <p:spPr>
          <a:xfrm>
            <a:off x="8183880" y="5422392"/>
            <a:ext cx="3456432" cy="548640"/>
          </a:xfrm>
          <a:prstGeom prst="rect">
            <a:avLst/>
          </a:prstGeom>
          <a:noFill/>
          <a:ln/>
        </p:spPr>
        <p:txBody>
          <a:bodyPr wrap="square" lIns="0" tIns="0" rIns="0" bIns="0" rtlCol="0" anchor="t"/>
          <a:lstStyle/>
          <a:p>
            <a:pPr indent="0" marL="0">
              <a:buNone/>
            </a:pPr>
            <a:r>
              <a:rPr lang="en-US" sz="1400" dirty="0">
                <a:solidFill>
                  <a:schemeClr val="tx1"/>
                </a:solidFill>
              </a:rPr>
              <a:t>independent rainfall series meaningfully wetter. None drier</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CLIMATE  |  EXTREMES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Extreme-rain days are up by half</a:t>
            </a:r>
            <a:endParaRPr lang="en-US" sz="3400" dirty="0"/>
          </a:p>
        </p:txBody>
      </p:sp>
      <p:sp>
        <p:nvSpPr>
          <p:cNvPr id="4" name="tag F2"/>
          <p:cNvSpPr/>
          <p:nvPr/>
        </p:nvSpPr>
        <p:spPr>
          <a:xfrm>
            <a:off x="10417759"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10417759"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F2</a:t>
            </a:r>
            <a:endParaRPr lang="en-US" sz="1100" dirty="0"/>
          </a:p>
        </p:txBody>
      </p:sp>
      <p:sp>
        <p:nvSpPr>
          <p:cNvPr id="6" name="tag F3"/>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7" name="Text 5"/>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F3</a:t>
            </a:r>
            <a:endParaRPr lang="en-US" sz="1100" dirty="0"/>
          </a:p>
        </p:txBody>
      </p:sp>
      <p:sp>
        <p:nvSpPr>
          <p:cNvPr id="8" name="chart panel"/>
          <p:cNvSpPr/>
          <p:nvPr/>
        </p:nvSpPr>
        <p:spPr>
          <a:xfrm>
            <a:off x="438912" y="1536192"/>
            <a:ext cx="7168896" cy="4745736"/>
          </a:xfrm>
          <a:prstGeom prst="roundRect">
            <a:avLst>
              <a:gd name="adj" fmla="val 2312"/>
            </a:avLst>
          </a:prstGeom>
          <a:solidFill>
            <a:schemeClr val="bg1"/>
          </a:solidFill>
          <a:ln w="9525">
            <a:solidFill>
              <a:srgbClr val="E2E8F0"/>
            </a:solidFill>
            <a:prstDash val="solid"/>
          </a:ln>
        </p:spPr>
      </p:sp>
      <p:graphicFrame>
        <p:nvGraphicFramePr>
          <p:cNvPr id="9" name="Chart 0" descr=""/>
          <p:cNvGraphicFramePr/>
          <p:nvPr/>
        </p:nvGraphicFramePr>
        <p:xfrm>
          <a:off x="548640" y="164592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863840" y="1691640"/>
            <a:ext cx="3776472" cy="685800"/>
          </a:xfrm>
          <a:prstGeom prst="rect">
            <a:avLst/>
          </a:prstGeom>
          <a:noFill/>
          <a:ln/>
        </p:spPr>
        <p:txBody>
          <a:bodyPr wrap="square" lIns="0" tIns="0" rIns="0" bIns="0" rtlCol="0" anchor="t"/>
          <a:lstStyle/>
          <a:p>
            <a:pPr indent="0" marL="0">
              <a:buNone/>
            </a:pPr>
            <a:r>
              <a:rPr lang="en-US" sz="4000" b="1" dirty="0">
                <a:solidFill>
                  <a:schemeClr val="tx1"/>
                </a:solidFill>
                <a:latin typeface="Calibri" pitchFamily="34" charset="0"/>
                <a:ea typeface="Calibri" pitchFamily="34" charset="-122"/>
                <a:cs typeface="Calibri" pitchFamily="34" charset="-120"/>
              </a:rPr>
              <a:t>6.0 → 8.9</a:t>
            </a:r>
            <a:endParaRPr lang="en-US" sz="4000" dirty="0"/>
          </a:p>
        </p:txBody>
      </p:sp>
      <p:sp>
        <p:nvSpPr>
          <p:cNvPr id="11" name="Text 8"/>
          <p:cNvSpPr txBox="1"/>
          <p:nvPr/>
        </p:nvSpPr>
        <p:spPr>
          <a:xfrm>
            <a:off x="7863840" y="2404872"/>
            <a:ext cx="3776472" cy="548640"/>
          </a:xfrm>
          <a:prstGeom prst="rect">
            <a:avLst/>
          </a:prstGeom>
          <a:noFill/>
          <a:ln/>
        </p:spPr>
        <p:txBody>
          <a:bodyPr wrap="square" lIns="0" tIns="0" rIns="0" bIns="0" rtlCol="0" anchor="t"/>
          <a:lstStyle/>
          <a:p>
            <a:pPr indent="0" marL="0">
              <a:buNone/>
            </a:pPr>
            <a:r>
              <a:rPr lang="en-US" sz="1400" dirty="0">
                <a:solidFill>
                  <a:schemeClr val="tx1"/>
                </a:solidFill>
              </a:rPr>
              <a:t>extreme days per district per year (+49%). Borderline significant (p = 0.05)</a:t>
            </a:r>
            <a:endParaRPr lang="en-US" sz="1400" dirty="0"/>
          </a:p>
        </p:txBody>
      </p:sp>
      <p:sp>
        <p:nvSpPr>
          <p:cNvPr id="12" name="event card"/>
          <p:cNvSpPr/>
          <p:nvPr/>
        </p:nvSpPr>
        <p:spPr>
          <a:xfrm>
            <a:off x="7863840" y="3337560"/>
            <a:ext cx="3776472" cy="2834640"/>
          </a:xfrm>
          <a:prstGeom prst="roundRect">
            <a:avLst>
              <a:gd name="adj" fmla="val 3871"/>
            </a:avLst>
          </a:prstGeom>
          <a:solidFill>
            <a:schemeClr val="tx2"/>
          </a:solidFill>
          <a:ln/>
        </p:spPr>
      </p:sp>
      <p:sp>
        <p:nvSpPr>
          <p:cNvPr id="13" name="Text 10"/>
          <p:cNvSpPr txBox="1"/>
          <p:nvPr/>
        </p:nvSpPr>
        <p:spPr>
          <a:xfrm>
            <a:off x="8138160" y="3566160"/>
            <a:ext cx="3246120" cy="685800"/>
          </a:xfrm>
          <a:prstGeom prst="rect">
            <a:avLst/>
          </a:prstGeom>
          <a:noFill/>
          <a:ln/>
        </p:spPr>
        <p:txBody>
          <a:bodyPr wrap="square" lIns="0" tIns="0" rIns="0" bIns="0" rtlCol="0" anchor="t"/>
          <a:lstStyle/>
          <a:p>
            <a:pPr indent="0" marL="0">
              <a:buNone/>
            </a:pPr>
            <a:r>
              <a:rPr lang="en-US" sz="1700" b="1" dirty="0">
                <a:solidFill>
                  <a:schemeClr val="bg1"/>
                </a:solidFill>
              </a:rPr>
              <a:t>But 26 August was an ordinary rain day</a:t>
            </a:r>
            <a:endParaRPr lang="en-US" sz="1700" dirty="0"/>
          </a:p>
        </p:txBody>
      </p:sp>
      <p:sp>
        <p:nvSpPr>
          <p:cNvPr id="14" name="Text 11"/>
          <p:cNvSpPr txBox="1"/>
          <p:nvPr/>
        </p:nvSpPr>
        <p:spPr>
          <a:xfrm>
            <a:off x="8138160" y="4297680"/>
            <a:ext cx="3246120" cy="1737360"/>
          </a:xfrm>
          <a:prstGeom prst="rect">
            <a:avLst/>
          </a:prstGeom>
          <a:noFill/>
          <a:ln/>
        </p:spPr>
        <p:txBody>
          <a:bodyPr wrap="square" lIns="0" tIns="0" rIns="0" bIns="0" rtlCol="0" anchor="t"/>
          <a:lstStyle/>
          <a:p>
            <a:pPr indent="0" marL="0">
              <a:buNone/>
            </a:pPr>
            <a:r>
              <a:rPr lang="en-US" sz="1400" dirty="0">
                <a:solidFill>
                  <a:schemeClr val="bg1"/>
                </a:solidFill>
              </a:rPr>
              <a:t>About 20 mm fell in the corridor that day, below the 29.5 mm extreme threshold. The trigger was ice, not rain: rainfall monitoring alone would have missed it.</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TERRAIN AND RIVERS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Eight districts: extreme terrain on big rivers</a:t>
            </a:r>
            <a:endParaRPr lang="en-US" sz="3400" dirty="0"/>
          </a:p>
        </p:txBody>
      </p:sp>
      <p:sp>
        <p:nvSpPr>
          <p:cNvPr id="4" name="tag F4"/>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F4</a:t>
            </a:r>
            <a:endParaRPr lang="en-US" sz="1100" dirty="0"/>
          </a:p>
        </p:txBody>
      </p:sp>
      <p:sp>
        <p:nvSpPr>
          <p:cNvPr id="6" name="chart panel"/>
          <p:cNvSpPr/>
          <p:nvPr/>
        </p:nvSpPr>
        <p:spPr>
          <a:xfrm>
            <a:off x="438912" y="1536192"/>
            <a:ext cx="6986016" cy="4745736"/>
          </a:xfrm>
          <a:prstGeom prst="roundRect">
            <a:avLst>
              <a:gd name="adj" fmla="val 2312"/>
            </a:avLst>
          </a:prstGeom>
          <a:solidFill>
            <a:schemeClr val="bg1"/>
          </a:solidFill>
          <a:ln w="9525">
            <a:solidFill>
              <a:srgbClr val="E2E8F0"/>
            </a:solidFill>
            <a:prstDash val="solid"/>
          </a:ln>
        </p:spPr>
      </p:sp>
      <p:graphicFrame>
        <p:nvGraphicFramePr>
          <p:cNvPr id="7" name="Chart 0" descr=""/>
          <p:cNvGraphicFramePr/>
          <p:nvPr/>
        </p:nvGraphicFramePr>
        <p:xfrm>
          <a:off x="548640" y="164592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680960" y="1645920"/>
            <a:ext cx="3959352" cy="365760"/>
          </a:xfrm>
          <a:prstGeom prst="rect">
            <a:avLst/>
          </a:prstGeom>
          <a:noFill/>
          <a:ln/>
        </p:spPr>
        <p:txBody>
          <a:bodyPr wrap="square" lIns="0" tIns="0" rIns="0" bIns="0" rtlCol="0" anchor="t"/>
          <a:lstStyle/>
          <a:p>
            <a:pPr indent="0" marL="0">
              <a:buNone/>
            </a:pPr>
            <a:r>
              <a:rPr lang="en-US" sz="1600" b="1" dirty="0">
                <a:solidFill>
                  <a:schemeClr val="tx2"/>
                </a:solidFill>
              </a:rPr>
              <a:t>Top third on both measures</a:t>
            </a:r>
            <a:endParaRPr lang="en-US" sz="1600" dirty="0"/>
          </a:p>
        </p:txBody>
      </p:sp>
      <p:sp>
        <p:nvSpPr>
          <p:cNvPr id="9" name="chip Gorkha"/>
          <p:cNvSpPr/>
          <p:nvPr/>
        </p:nvSpPr>
        <p:spPr>
          <a:xfrm>
            <a:off x="7680960" y="2148840"/>
            <a:ext cx="1874520" cy="420624"/>
          </a:xfrm>
          <a:prstGeom prst="roundRect">
            <a:avLst>
              <a:gd name="adj" fmla="val 26087"/>
            </a:avLst>
          </a:prstGeom>
          <a:solidFill>
            <a:schemeClr val="bg1"/>
          </a:solidFill>
          <a:ln w="9525">
            <a:solidFill>
              <a:srgbClr val="E2E8F0"/>
            </a:solidFill>
            <a:prstDash val="solid"/>
          </a:ln>
        </p:spPr>
      </p:sp>
      <p:sp>
        <p:nvSpPr>
          <p:cNvPr id="10" name="Text 7"/>
          <p:cNvSpPr txBox="1"/>
          <p:nvPr/>
        </p:nvSpPr>
        <p:spPr>
          <a:xfrm>
            <a:off x="7818120" y="2148840"/>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Gorkha</a:t>
            </a:r>
            <a:endParaRPr lang="en-US" sz="1400" dirty="0"/>
          </a:p>
        </p:txBody>
      </p:sp>
      <p:sp>
        <p:nvSpPr>
          <p:cNvPr id="11" name="chip Sankhuwasabha"/>
          <p:cNvSpPr/>
          <p:nvPr/>
        </p:nvSpPr>
        <p:spPr>
          <a:xfrm>
            <a:off x="9692640" y="2148840"/>
            <a:ext cx="1874520" cy="420624"/>
          </a:xfrm>
          <a:prstGeom prst="roundRect">
            <a:avLst>
              <a:gd name="adj" fmla="val 26087"/>
            </a:avLst>
          </a:prstGeom>
          <a:solidFill>
            <a:schemeClr val="bg1"/>
          </a:solidFill>
          <a:ln w="9525">
            <a:solidFill>
              <a:srgbClr val="E2E8F0"/>
            </a:solidFill>
            <a:prstDash val="solid"/>
          </a:ln>
        </p:spPr>
      </p:sp>
      <p:sp>
        <p:nvSpPr>
          <p:cNvPr id="12" name="Text 9"/>
          <p:cNvSpPr txBox="1"/>
          <p:nvPr/>
        </p:nvSpPr>
        <p:spPr>
          <a:xfrm>
            <a:off x="9829800" y="2148840"/>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Sankhuwasabha</a:t>
            </a:r>
            <a:endParaRPr lang="en-US" sz="1400" dirty="0"/>
          </a:p>
        </p:txBody>
      </p:sp>
      <p:sp>
        <p:nvSpPr>
          <p:cNvPr id="13" name="chip Ramechhap"/>
          <p:cNvSpPr/>
          <p:nvPr/>
        </p:nvSpPr>
        <p:spPr>
          <a:xfrm>
            <a:off x="7680960" y="2679192"/>
            <a:ext cx="1874520" cy="420624"/>
          </a:xfrm>
          <a:prstGeom prst="roundRect">
            <a:avLst>
              <a:gd name="adj" fmla="val 26087"/>
            </a:avLst>
          </a:prstGeom>
          <a:solidFill>
            <a:schemeClr val="bg1"/>
          </a:solidFill>
          <a:ln w="9525">
            <a:solidFill>
              <a:srgbClr val="E2E8F0"/>
            </a:solidFill>
            <a:prstDash val="solid"/>
          </a:ln>
        </p:spPr>
      </p:sp>
      <p:sp>
        <p:nvSpPr>
          <p:cNvPr id="14" name="Text 11"/>
          <p:cNvSpPr txBox="1"/>
          <p:nvPr/>
        </p:nvSpPr>
        <p:spPr>
          <a:xfrm>
            <a:off x="7818120" y="2679192"/>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Ramechhap</a:t>
            </a:r>
            <a:endParaRPr lang="en-US" sz="1400" dirty="0"/>
          </a:p>
        </p:txBody>
      </p:sp>
      <p:sp>
        <p:nvSpPr>
          <p:cNvPr id="15" name="chip Dhading"/>
          <p:cNvSpPr/>
          <p:nvPr/>
        </p:nvSpPr>
        <p:spPr>
          <a:xfrm>
            <a:off x="9692640" y="2679192"/>
            <a:ext cx="1874520" cy="420624"/>
          </a:xfrm>
          <a:prstGeom prst="roundRect">
            <a:avLst>
              <a:gd name="adj" fmla="val 26087"/>
            </a:avLst>
          </a:prstGeom>
          <a:solidFill>
            <a:schemeClr val="bg1"/>
          </a:solidFill>
          <a:ln w="9525">
            <a:solidFill>
              <a:srgbClr val="E2E8F0"/>
            </a:solidFill>
            <a:prstDash val="solid"/>
          </a:ln>
        </p:spPr>
      </p:sp>
      <p:sp>
        <p:nvSpPr>
          <p:cNvPr id="16" name="Text 13"/>
          <p:cNvSpPr txBox="1"/>
          <p:nvPr/>
        </p:nvSpPr>
        <p:spPr>
          <a:xfrm>
            <a:off x="9829800" y="2679192"/>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Dhading</a:t>
            </a:r>
            <a:endParaRPr lang="en-US" sz="1400" dirty="0"/>
          </a:p>
        </p:txBody>
      </p:sp>
      <p:sp>
        <p:nvSpPr>
          <p:cNvPr id="17" name="chip Mugu"/>
          <p:cNvSpPr/>
          <p:nvPr/>
        </p:nvSpPr>
        <p:spPr>
          <a:xfrm>
            <a:off x="7680960" y="3209544"/>
            <a:ext cx="1874520" cy="420624"/>
          </a:xfrm>
          <a:prstGeom prst="roundRect">
            <a:avLst>
              <a:gd name="adj" fmla="val 26087"/>
            </a:avLst>
          </a:prstGeom>
          <a:solidFill>
            <a:schemeClr val="bg1"/>
          </a:solidFill>
          <a:ln w="9525">
            <a:solidFill>
              <a:srgbClr val="E2E8F0"/>
            </a:solidFill>
            <a:prstDash val="solid"/>
          </a:ln>
        </p:spPr>
      </p:sp>
      <p:sp>
        <p:nvSpPr>
          <p:cNvPr id="18" name="Text 15"/>
          <p:cNvSpPr txBox="1"/>
          <p:nvPr/>
        </p:nvSpPr>
        <p:spPr>
          <a:xfrm>
            <a:off x="7818120" y="3209544"/>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Mugu</a:t>
            </a:r>
            <a:endParaRPr lang="en-US" sz="1400" dirty="0"/>
          </a:p>
        </p:txBody>
      </p:sp>
      <p:sp>
        <p:nvSpPr>
          <p:cNvPr id="19" name="chip Humla"/>
          <p:cNvSpPr/>
          <p:nvPr/>
        </p:nvSpPr>
        <p:spPr>
          <a:xfrm>
            <a:off x="9692640" y="3209544"/>
            <a:ext cx="1874520" cy="420624"/>
          </a:xfrm>
          <a:prstGeom prst="roundRect">
            <a:avLst>
              <a:gd name="adj" fmla="val 26087"/>
            </a:avLst>
          </a:prstGeom>
          <a:solidFill>
            <a:schemeClr val="bg1"/>
          </a:solidFill>
          <a:ln w="9525">
            <a:solidFill>
              <a:srgbClr val="E2E8F0"/>
            </a:solidFill>
            <a:prstDash val="solid"/>
          </a:ln>
        </p:spPr>
      </p:sp>
      <p:sp>
        <p:nvSpPr>
          <p:cNvPr id="20" name="Text 17"/>
          <p:cNvSpPr txBox="1"/>
          <p:nvPr/>
        </p:nvSpPr>
        <p:spPr>
          <a:xfrm>
            <a:off x="9829800" y="3209544"/>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Humla</a:t>
            </a:r>
            <a:endParaRPr lang="en-US" sz="1400" dirty="0"/>
          </a:p>
        </p:txBody>
      </p:sp>
      <p:sp>
        <p:nvSpPr>
          <p:cNvPr id="21" name="chip Rukum West"/>
          <p:cNvSpPr/>
          <p:nvPr/>
        </p:nvSpPr>
        <p:spPr>
          <a:xfrm>
            <a:off x="7680960" y="3739896"/>
            <a:ext cx="1874520" cy="420624"/>
          </a:xfrm>
          <a:prstGeom prst="roundRect">
            <a:avLst>
              <a:gd name="adj" fmla="val 26087"/>
            </a:avLst>
          </a:prstGeom>
          <a:solidFill>
            <a:schemeClr val="bg1"/>
          </a:solidFill>
          <a:ln w="9525">
            <a:solidFill>
              <a:srgbClr val="E2E8F0"/>
            </a:solidFill>
            <a:prstDash val="solid"/>
          </a:ln>
        </p:spPr>
      </p:sp>
      <p:sp>
        <p:nvSpPr>
          <p:cNvPr id="22" name="Text 19"/>
          <p:cNvSpPr txBox="1"/>
          <p:nvPr/>
        </p:nvSpPr>
        <p:spPr>
          <a:xfrm>
            <a:off x="7818120" y="3739896"/>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Rukum West</a:t>
            </a:r>
            <a:endParaRPr lang="en-US" sz="1400" dirty="0"/>
          </a:p>
        </p:txBody>
      </p:sp>
      <p:sp>
        <p:nvSpPr>
          <p:cNvPr id="23" name="chip Kalikot"/>
          <p:cNvSpPr/>
          <p:nvPr/>
        </p:nvSpPr>
        <p:spPr>
          <a:xfrm>
            <a:off x="9692640" y="3739896"/>
            <a:ext cx="1874520" cy="420624"/>
          </a:xfrm>
          <a:prstGeom prst="roundRect">
            <a:avLst>
              <a:gd name="adj" fmla="val 26087"/>
            </a:avLst>
          </a:prstGeom>
          <a:solidFill>
            <a:schemeClr val="bg1"/>
          </a:solidFill>
          <a:ln w="9525">
            <a:solidFill>
              <a:srgbClr val="E2E8F0"/>
            </a:solidFill>
            <a:prstDash val="solid"/>
          </a:ln>
        </p:spPr>
      </p:sp>
      <p:sp>
        <p:nvSpPr>
          <p:cNvPr id="24" name="Text 21"/>
          <p:cNvSpPr txBox="1"/>
          <p:nvPr/>
        </p:nvSpPr>
        <p:spPr>
          <a:xfrm>
            <a:off x="9829800" y="3739896"/>
            <a:ext cx="1645920" cy="420624"/>
          </a:xfrm>
          <a:prstGeom prst="rect">
            <a:avLst/>
          </a:prstGeom>
          <a:noFill/>
          <a:ln/>
        </p:spPr>
        <p:txBody>
          <a:bodyPr wrap="square" lIns="0" tIns="0" rIns="0" bIns="0" rtlCol="0" anchor="ctr"/>
          <a:lstStyle/>
          <a:p>
            <a:pPr indent="0" marL="0">
              <a:buNone/>
            </a:pPr>
            <a:r>
              <a:rPr lang="en-US" sz="1400" b="1" dirty="0">
                <a:solidFill>
                  <a:schemeClr val="accent1"/>
                </a:solidFill>
              </a:rPr>
              <a:t>Kalikot</a:t>
            </a:r>
            <a:endParaRPr lang="en-US" sz="1400" dirty="0"/>
          </a:p>
        </p:txBody>
      </p:sp>
      <p:sp>
        <p:nvSpPr>
          <p:cNvPr id="25" name="Text 22"/>
          <p:cNvSpPr txBox="1"/>
          <p:nvPr/>
        </p:nvSpPr>
        <p:spPr>
          <a:xfrm>
            <a:off x="7680960" y="4389120"/>
            <a:ext cx="3959352" cy="1280160"/>
          </a:xfrm>
          <a:prstGeom prst="rect">
            <a:avLst/>
          </a:prstGeom>
          <a:noFill/>
          <a:ln/>
        </p:spPr>
        <p:txBody>
          <a:bodyPr wrap="square" lIns="0" tIns="0" rIns="0" bIns="0" rtlCol="0" anchor="t"/>
          <a:lstStyle/>
          <a:p>
            <a:pPr indent="0" marL="0">
              <a:buNone/>
            </a:pPr>
            <a:r>
              <a:rPr lang="en-US" sz="1400" b="1" dirty="0">
                <a:solidFill>
                  <a:schemeClr val="tx2"/>
                </a:solidFill>
              </a:rPr>
              <a:t>Why together? </a:t>
            </a:r>
            <a:pPr indent="0" marL="0">
              <a:buNone/>
            </a:pPr>
            <a:r>
              <a:rPr lang="en-US" sz="1400" dirty="0">
                <a:solidFill>
                  <a:schemeClr val="tx1"/>
                </a:solidFill>
              </a:rPr>
              <a:t>Landslides can dam rivers and burst downstream; ice collapses travel down steep valleys through river corridors. Steep plus river means cascading hazard.</a:t>
            </a:r>
            <a:endParaRPr lang="en-US" sz="1400" dirty="0"/>
          </a:p>
        </p:txBody>
      </p:sp>
      <p:sp>
        <p:nvSpPr>
          <p:cNvPr id="26" name="Text 23"/>
          <p:cNvSpPr txBox="1"/>
          <p:nvPr/>
        </p:nvSpPr>
        <p:spPr>
          <a:xfrm>
            <a:off x="7680960" y="5715000"/>
            <a:ext cx="3959352" cy="457200"/>
          </a:xfrm>
          <a:prstGeom prst="rect">
            <a:avLst/>
          </a:prstGeom>
          <a:noFill/>
          <a:ln/>
        </p:spPr>
        <p:txBody>
          <a:bodyPr wrap="square" lIns="0" tIns="0" rIns="0" bIns="0" rtlCol="0" anchor="t"/>
          <a:lstStyle/>
          <a:p>
            <a:pPr indent="0" marL="0">
              <a:buNone/>
            </a:pPr>
            <a:r>
              <a:rPr lang="en-US" sz="1100" i="1" dirty="0">
                <a:solidFill>
                  <a:srgbClr val="526579"/>
                </a:solidFill>
              </a:rPr>
              <a:t>Ruggedness = spread of elevation within the district (supplied slope data is corrupted).</a:t>
            </a:r>
            <a:endParaRPr lang="en-US" sz="11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EXPOSURE AND VULNERABILITY</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Assets cluster in cities; fragility in mountains</a:t>
            </a:r>
            <a:endParaRPr lang="en-US" sz="3400" dirty="0"/>
          </a:p>
        </p:txBody>
      </p:sp>
      <p:sp>
        <p:nvSpPr>
          <p:cNvPr id="4" name="tag F5"/>
          <p:cNvSpPr/>
          <p:nvPr/>
        </p:nvSpPr>
        <p:spPr>
          <a:xfrm>
            <a:off x="10417759"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10417759"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F5</a:t>
            </a:r>
            <a:endParaRPr lang="en-US" sz="1100" dirty="0"/>
          </a:p>
        </p:txBody>
      </p:sp>
      <p:sp>
        <p:nvSpPr>
          <p:cNvPr id="6" name="tag F6"/>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7" name="Text 5"/>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F6</a:t>
            </a:r>
            <a:endParaRPr lang="en-US" sz="1100" dirty="0"/>
          </a:p>
        </p:txBody>
      </p:sp>
      <p:sp>
        <p:nvSpPr>
          <p:cNvPr id="8" name="chart panel"/>
          <p:cNvSpPr/>
          <p:nvPr/>
        </p:nvSpPr>
        <p:spPr>
          <a:xfrm>
            <a:off x="438912" y="1536192"/>
            <a:ext cx="5568696" cy="4151376"/>
          </a:xfrm>
          <a:prstGeom prst="roundRect">
            <a:avLst>
              <a:gd name="adj" fmla="val 2643"/>
            </a:avLst>
          </a:prstGeom>
          <a:solidFill>
            <a:schemeClr val="bg1"/>
          </a:solidFill>
          <a:ln w="9525">
            <a:solidFill>
              <a:srgbClr val="E2E8F0"/>
            </a:solidFill>
            <a:prstDash val="solid"/>
          </a:ln>
        </p:spPr>
      </p:sp>
      <p:graphicFrame>
        <p:nvGraphicFramePr>
          <p:cNvPr id="9" name="Chart 0" descr=""/>
          <p:cNvGraphicFramePr/>
          <p:nvPr/>
        </p:nvGraphicFramePr>
        <p:xfrm>
          <a:off x="548640" y="1645920"/>
          <a:ext cx="5349240" cy="3931920"/>
        </p:xfrm>
        <a:graphic xmlns:a="http://schemas.openxmlformats.org/drawingml/2006/main">
          <a:graphicData uri="http://schemas.openxmlformats.org/drawingml/2006/chart">
            <c:chart xmlns:c="http://schemas.openxmlformats.org/drawingml/2006/chart" r:id="rId1"/>
          </a:graphicData>
        </a:graphic>
      </p:graphicFrame>
      <p:sp>
        <p:nvSpPr>
          <p:cNvPr id="10" name="chart panel"/>
          <p:cNvSpPr/>
          <p:nvPr/>
        </p:nvSpPr>
        <p:spPr>
          <a:xfrm>
            <a:off x="6181344" y="1536192"/>
            <a:ext cx="5568696" cy="4151376"/>
          </a:xfrm>
          <a:prstGeom prst="roundRect">
            <a:avLst>
              <a:gd name="adj" fmla="val 2643"/>
            </a:avLst>
          </a:prstGeom>
          <a:solidFill>
            <a:schemeClr val="bg1"/>
          </a:solidFill>
          <a:ln w="9525">
            <a:solidFill>
              <a:srgbClr val="E2E8F0"/>
            </a:solidFill>
            <a:prstDash val="solid"/>
          </a:ln>
        </p:spPr>
      </p:sp>
      <p:graphicFrame>
        <p:nvGraphicFramePr>
          <p:cNvPr id="11" name="Chart 1" descr=""/>
          <p:cNvGraphicFramePr/>
          <p:nvPr/>
        </p:nvGraphicFramePr>
        <p:xfrm>
          <a:off x="6291072" y="1645920"/>
          <a:ext cx="5349240" cy="393192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txBox="1"/>
          <p:nvPr/>
        </p:nvSpPr>
        <p:spPr>
          <a:xfrm>
            <a:off x="548640" y="5669280"/>
            <a:ext cx="5349240" cy="685800"/>
          </a:xfrm>
          <a:prstGeom prst="rect">
            <a:avLst/>
          </a:prstGeom>
          <a:noFill/>
          <a:ln/>
        </p:spPr>
        <p:txBody>
          <a:bodyPr wrap="square" lIns="0" tIns="0" rIns="0" bIns="0" rtlCol="0" anchor="t"/>
          <a:lstStyle/>
          <a:p>
            <a:pPr indent="0" marL="0">
              <a:buNone/>
            </a:pPr>
            <a:r>
              <a:rPr lang="en-US" sz="1300" dirty="0">
                <a:solidFill>
                  <a:schemeClr val="tx1"/>
                </a:solidFill>
              </a:rPr>
              <a:t>Kathmandu Valley, Pokhara (Kaski) and the southern plains hold most people. Dolakha holds the most hydropower (587 MW).</a:t>
            </a:r>
            <a:endParaRPr lang="en-US" sz="1300" dirty="0"/>
          </a:p>
        </p:txBody>
      </p:sp>
      <p:sp>
        <p:nvSpPr>
          <p:cNvPr id="13" name="Text 9"/>
          <p:cNvSpPr txBox="1"/>
          <p:nvPr/>
        </p:nvSpPr>
        <p:spPr>
          <a:xfrm>
            <a:off x="6291072" y="5669280"/>
            <a:ext cx="5349240" cy="685800"/>
          </a:xfrm>
          <a:prstGeom prst="rect">
            <a:avLst/>
          </a:prstGeom>
          <a:noFill/>
          <a:ln/>
        </p:spPr>
        <p:txBody>
          <a:bodyPr wrap="square" lIns="0" tIns="0" rIns="0" bIns="0" rtlCol="0" anchor="t"/>
          <a:lstStyle/>
          <a:p>
            <a:pPr indent="0" marL="0">
              <a:buNone/>
            </a:pPr>
            <a:r>
              <a:rPr lang="en-US" sz="1300" dirty="0">
                <a:solidFill>
                  <a:schemeClr val="tx1"/>
                </a:solidFill>
              </a:rPr>
              <a:t>One or two mapped hospitals for 100,000+ people and very sparse roads. Not captured: poverty, age, housing quality.</a:t>
            </a:r>
            <a:endParaRPr lang="en-US" sz="13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RISK INDEX</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High only where all three are high</a:t>
            </a:r>
            <a:endParaRPr lang="en-US" sz="3400" dirty="0"/>
          </a:p>
        </p:txBody>
      </p:sp>
      <p:sp>
        <p:nvSpPr>
          <p:cNvPr id="4" name="HAZARD"/>
          <p:cNvSpPr/>
          <p:nvPr/>
        </p:nvSpPr>
        <p:spPr>
          <a:xfrm>
            <a:off x="548640" y="1645920"/>
            <a:ext cx="2468880" cy="1920240"/>
          </a:xfrm>
          <a:prstGeom prst="roundRect">
            <a:avLst>
              <a:gd name="adj" fmla="val 5714"/>
            </a:avLst>
          </a:prstGeom>
          <a:solidFill>
            <a:schemeClr val="bg1"/>
          </a:solidFill>
          <a:ln w="9525">
            <a:solidFill>
              <a:srgbClr val="E2E8F0"/>
            </a:solidFill>
            <a:prstDash val="solid"/>
          </a:ln>
        </p:spPr>
      </p:sp>
      <p:sp>
        <p:nvSpPr>
          <p:cNvPr id="5" name="Text 3"/>
          <p:cNvSpPr txBox="1"/>
          <p:nvPr/>
        </p:nvSpPr>
        <p:spPr>
          <a:xfrm>
            <a:off x="731520" y="1828800"/>
            <a:ext cx="2103120" cy="365760"/>
          </a:xfrm>
          <a:prstGeom prst="rect">
            <a:avLst/>
          </a:prstGeom>
          <a:noFill/>
          <a:ln/>
        </p:spPr>
        <p:txBody>
          <a:bodyPr wrap="square" lIns="0" tIns="0" rIns="0" bIns="0" rtlCol="0" anchor="t"/>
          <a:lstStyle/>
          <a:p>
            <a:pPr indent="0" marL="0">
              <a:buNone/>
            </a:pPr>
            <a:r>
              <a:rPr lang="en-US" sz="1600" b="1" spc="100" kern="0" dirty="0">
                <a:solidFill>
                  <a:srgbClr val="B84A00"/>
                </a:solidFill>
              </a:rPr>
              <a:t>HAZARD</a:t>
            </a:r>
            <a:endParaRPr lang="en-US" sz="1600" dirty="0"/>
          </a:p>
        </p:txBody>
      </p:sp>
      <p:sp>
        <p:nvSpPr>
          <p:cNvPr id="6" name="Text 4"/>
          <p:cNvSpPr txBox="1"/>
          <p:nvPr/>
        </p:nvSpPr>
        <p:spPr>
          <a:xfrm>
            <a:off x="731520" y="2286000"/>
            <a:ext cx="2103120" cy="1188720"/>
          </a:xfrm>
          <a:prstGeom prst="rect">
            <a:avLst/>
          </a:prstGeom>
          <a:noFill/>
          <a:ln/>
        </p:spPr>
        <p:txBody>
          <a:bodyPr wrap="square" lIns="0" tIns="0" rIns="0" bIns="0" rtlCol="0" anchor="t"/>
          <a:lstStyle/>
          <a:p>
            <a:pPr indent="0" marL="0">
              <a:buNone/>
            </a:pPr>
            <a:r>
              <a:rPr lang="en-US" sz="1400" dirty="0">
                <a:solidFill>
                  <a:schemeClr val="tx1"/>
                </a:solidFill>
              </a:rPr>
              <a:t>Flood: rain + rivers</a:t>
            </a:r>
            <a:endParaRPr lang="en-US" sz="1400" dirty="0"/>
          </a:p>
          <a:p>
            <a:pPr indent="0" marL="0">
              <a:buNone/>
            </a:pPr>
            <a:r>
              <a:rPr lang="en-US" sz="1400" dirty="0">
                <a:solidFill>
                  <a:schemeClr val="tx1"/>
                </a:solidFill>
              </a:rPr>
              <a:t>Landslide: rain + terrain</a:t>
            </a:r>
            <a:endParaRPr lang="en-US" sz="1400" dirty="0"/>
          </a:p>
        </p:txBody>
      </p:sp>
      <p:sp>
        <p:nvSpPr>
          <p:cNvPr id="7" name="Text 5"/>
          <p:cNvSpPr txBox="1"/>
          <p:nvPr/>
        </p:nvSpPr>
        <p:spPr>
          <a:xfrm>
            <a:off x="3017520" y="2194560"/>
            <a:ext cx="429768" cy="731520"/>
          </a:xfrm>
          <a:prstGeom prst="rect">
            <a:avLst/>
          </a:prstGeom>
          <a:noFill/>
          <a:ln/>
        </p:spPr>
        <p:txBody>
          <a:bodyPr wrap="square" lIns="0" tIns="0" rIns="0" bIns="0" rtlCol="0" anchor="ctr"/>
          <a:lstStyle/>
          <a:p>
            <a:pPr algn="ctr" indent="0" marL="0">
              <a:buNone/>
            </a:pPr>
            <a:r>
              <a:rPr lang="en-US" sz="3200" b="1" dirty="0">
                <a:solidFill>
                  <a:schemeClr val="accent4"/>
                </a:solidFill>
              </a:rPr>
              <a:t>×</a:t>
            </a:r>
            <a:endParaRPr lang="en-US" sz="3200" dirty="0"/>
          </a:p>
        </p:txBody>
      </p:sp>
      <p:sp>
        <p:nvSpPr>
          <p:cNvPr id="8" name="EXPOSURE"/>
          <p:cNvSpPr/>
          <p:nvPr/>
        </p:nvSpPr>
        <p:spPr>
          <a:xfrm>
            <a:off x="3447288" y="1645920"/>
            <a:ext cx="2468880" cy="1920240"/>
          </a:xfrm>
          <a:prstGeom prst="roundRect">
            <a:avLst>
              <a:gd name="adj" fmla="val 5714"/>
            </a:avLst>
          </a:prstGeom>
          <a:solidFill>
            <a:schemeClr val="bg1"/>
          </a:solidFill>
          <a:ln w="9525">
            <a:solidFill>
              <a:srgbClr val="E2E8F0"/>
            </a:solidFill>
            <a:prstDash val="solid"/>
          </a:ln>
        </p:spPr>
      </p:sp>
      <p:sp>
        <p:nvSpPr>
          <p:cNvPr id="9" name="Text 7"/>
          <p:cNvSpPr txBox="1"/>
          <p:nvPr/>
        </p:nvSpPr>
        <p:spPr>
          <a:xfrm>
            <a:off x="3630168" y="1828800"/>
            <a:ext cx="2103120" cy="365760"/>
          </a:xfrm>
          <a:prstGeom prst="rect">
            <a:avLst/>
          </a:prstGeom>
          <a:noFill/>
          <a:ln/>
        </p:spPr>
        <p:txBody>
          <a:bodyPr wrap="square" lIns="0" tIns="0" rIns="0" bIns="0" rtlCol="0" anchor="t"/>
          <a:lstStyle/>
          <a:p>
            <a:pPr indent="0" marL="0">
              <a:buNone/>
            </a:pPr>
            <a:r>
              <a:rPr lang="en-US" sz="1600" b="1" spc="100" kern="0" dirty="0">
                <a:solidFill>
                  <a:schemeClr val="accent2"/>
                </a:solidFill>
              </a:rPr>
              <a:t>EXPOSURE</a:t>
            </a:r>
            <a:endParaRPr lang="en-US" sz="1600" dirty="0"/>
          </a:p>
        </p:txBody>
      </p:sp>
      <p:sp>
        <p:nvSpPr>
          <p:cNvPr id="10" name="Text 8"/>
          <p:cNvSpPr txBox="1"/>
          <p:nvPr/>
        </p:nvSpPr>
        <p:spPr>
          <a:xfrm>
            <a:off x="3630168" y="2286000"/>
            <a:ext cx="2103120" cy="1188720"/>
          </a:xfrm>
          <a:prstGeom prst="rect">
            <a:avLst/>
          </a:prstGeom>
          <a:noFill/>
          <a:ln/>
        </p:spPr>
        <p:txBody>
          <a:bodyPr wrap="square" lIns="0" tIns="0" rIns="0" bIns="0" rtlCol="0" anchor="t"/>
          <a:lstStyle/>
          <a:p>
            <a:pPr indent="0" marL="0">
              <a:buNone/>
            </a:pPr>
            <a:r>
              <a:rPr lang="en-US" sz="1400" dirty="0">
                <a:solidFill>
                  <a:schemeClr val="tx1"/>
                </a:solidFill>
              </a:rPr>
              <a:t>People, density, hydropower, hospitals, schools</a:t>
            </a:r>
            <a:endParaRPr lang="en-US" sz="1400" dirty="0"/>
          </a:p>
        </p:txBody>
      </p:sp>
      <p:sp>
        <p:nvSpPr>
          <p:cNvPr id="11" name="Text 9"/>
          <p:cNvSpPr txBox="1"/>
          <p:nvPr/>
        </p:nvSpPr>
        <p:spPr>
          <a:xfrm>
            <a:off x="5916168" y="2194560"/>
            <a:ext cx="429768" cy="731520"/>
          </a:xfrm>
          <a:prstGeom prst="rect">
            <a:avLst/>
          </a:prstGeom>
          <a:noFill/>
          <a:ln/>
        </p:spPr>
        <p:txBody>
          <a:bodyPr wrap="square" lIns="0" tIns="0" rIns="0" bIns="0" rtlCol="0" anchor="ctr"/>
          <a:lstStyle/>
          <a:p>
            <a:pPr algn="ctr" indent="0" marL="0">
              <a:buNone/>
            </a:pPr>
            <a:r>
              <a:rPr lang="en-US" sz="3200" b="1" dirty="0">
                <a:solidFill>
                  <a:schemeClr val="accent4"/>
                </a:solidFill>
              </a:rPr>
              <a:t>×</a:t>
            </a:r>
            <a:endParaRPr lang="en-US" sz="3200" dirty="0"/>
          </a:p>
        </p:txBody>
      </p:sp>
      <p:sp>
        <p:nvSpPr>
          <p:cNvPr id="12" name="VULNERABILITY"/>
          <p:cNvSpPr/>
          <p:nvPr/>
        </p:nvSpPr>
        <p:spPr>
          <a:xfrm>
            <a:off x="6345936" y="1645920"/>
            <a:ext cx="2468880" cy="1920240"/>
          </a:xfrm>
          <a:prstGeom prst="roundRect">
            <a:avLst>
              <a:gd name="adj" fmla="val 5714"/>
            </a:avLst>
          </a:prstGeom>
          <a:solidFill>
            <a:schemeClr val="bg1"/>
          </a:solidFill>
          <a:ln w="9525">
            <a:solidFill>
              <a:srgbClr val="E2E8F0"/>
            </a:solidFill>
            <a:prstDash val="solid"/>
          </a:ln>
        </p:spPr>
      </p:sp>
      <p:sp>
        <p:nvSpPr>
          <p:cNvPr id="13" name="Text 11"/>
          <p:cNvSpPr txBox="1"/>
          <p:nvPr/>
        </p:nvSpPr>
        <p:spPr>
          <a:xfrm>
            <a:off x="6528816" y="1828800"/>
            <a:ext cx="2103120" cy="365760"/>
          </a:xfrm>
          <a:prstGeom prst="rect">
            <a:avLst/>
          </a:prstGeom>
          <a:noFill/>
          <a:ln/>
        </p:spPr>
        <p:txBody>
          <a:bodyPr wrap="square" lIns="0" tIns="0" rIns="0" bIns="0" rtlCol="0" anchor="t"/>
          <a:lstStyle/>
          <a:p>
            <a:pPr indent="0" marL="0">
              <a:buNone/>
            </a:pPr>
            <a:r>
              <a:rPr lang="en-US" sz="1600" b="1" spc="100" kern="0" dirty="0">
                <a:solidFill>
                  <a:schemeClr val="accent1"/>
                </a:solidFill>
              </a:rPr>
              <a:t>VULNERABILITY</a:t>
            </a:r>
            <a:endParaRPr lang="en-US" sz="1600" dirty="0"/>
          </a:p>
        </p:txBody>
      </p:sp>
      <p:sp>
        <p:nvSpPr>
          <p:cNvPr id="14" name="Text 12"/>
          <p:cNvSpPr txBox="1"/>
          <p:nvPr/>
        </p:nvSpPr>
        <p:spPr>
          <a:xfrm>
            <a:off x="6528816" y="2286000"/>
            <a:ext cx="2103120" cy="1188720"/>
          </a:xfrm>
          <a:prstGeom prst="rect">
            <a:avLst/>
          </a:prstGeom>
          <a:noFill/>
          <a:ln/>
        </p:spPr>
        <p:txBody>
          <a:bodyPr wrap="square" lIns="0" tIns="0" rIns="0" bIns="0" rtlCol="0" anchor="t"/>
          <a:lstStyle/>
          <a:p>
            <a:pPr indent="0" marL="0">
              <a:buNone/>
            </a:pPr>
            <a:r>
              <a:rPr lang="en-US" sz="1400" dirty="0">
                <a:solidFill>
                  <a:schemeClr val="tx1"/>
                </a:solidFill>
              </a:rPr>
              <a:t>Road access and people per hospital</a:t>
            </a:r>
            <a:endParaRPr lang="en-US" sz="1400" dirty="0"/>
          </a:p>
        </p:txBody>
      </p:sp>
      <p:sp>
        <p:nvSpPr>
          <p:cNvPr id="15" name="Text 13"/>
          <p:cNvSpPr txBox="1"/>
          <p:nvPr/>
        </p:nvSpPr>
        <p:spPr>
          <a:xfrm>
            <a:off x="8814816" y="2194560"/>
            <a:ext cx="429768" cy="731520"/>
          </a:xfrm>
          <a:prstGeom prst="rect">
            <a:avLst/>
          </a:prstGeom>
          <a:noFill/>
          <a:ln/>
        </p:spPr>
        <p:txBody>
          <a:bodyPr wrap="square" lIns="0" tIns="0" rIns="0" bIns="0" rtlCol="0" anchor="ctr"/>
          <a:lstStyle/>
          <a:p>
            <a:pPr algn="ctr" indent="0" marL="0">
              <a:buNone/>
            </a:pPr>
            <a:r>
              <a:rPr lang="en-US" sz="3200" b="1" dirty="0">
                <a:solidFill>
                  <a:schemeClr val="accent4"/>
                </a:solidFill>
              </a:rPr>
              <a:t>=</a:t>
            </a:r>
            <a:endParaRPr lang="en-US" sz="3200" dirty="0"/>
          </a:p>
        </p:txBody>
      </p:sp>
      <p:sp>
        <p:nvSpPr>
          <p:cNvPr id="16" name="risk block"/>
          <p:cNvSpPr/>
          <p:nvPr/>
        </p:nvSpPr>
        <p:spPr>
          <a:xfrm>
            <a:off x="9244584" y="1645920"/>
            <a:ext cx="2395728" cy="1920240"/>
          </a:xfrm>
          <a:prstGeom prst="roundRect">
            <a:avLst>
              <a:gd name="adj" fmla="val 5714"/>
            </a:avLst>
          </a:prstGeom>
          <a:solidFill>
            <a:schemeClr val="tx2"/>
          </a:solidFill>
          <a:ln/>
        </p:spPr>
      </p:sp>
      <p:sp>
        <p:nvSpPr>
          <p:cNvPr id="17" name="Text 15"/>
          <p:cNvSpPr txBox="1"/>
          <p:nvPr/>
        </p:nvSpPr>
        <p:spPr>
          <a:xfrm>
            <a:off x="9427464" y="1828800"/>
            <a:ext cx="2011680" cy="365760"/>
          </a:xfrm>
          <a:prstGeom prst="rect">
            <a:avLst/>
          </a:prstGeom>
          <a:noFill/>
          <a:ln/>
        </p:spPr>
        <p:txBody>
          <a:bodyPr wrap="square" lIns="0" tIns="0" rIns="0" bIns="0" rtlCol="0" anchor="t"/>
          <a:lstStyle/>
          <a:p>
            <a:pPr indent="0" marL="0">
              <a:buNone/>
            </a:pPr>
            <a:r>
              <a:rPr lang="en-US" sz="1600" b="1" spc="100" kern="0" dirty="0">
                <a:solidFill>
                  <a:srgbClr val="A9BCD0"/>
                </a:solidFill>
              </a:rPr>
              <a:t>RISK</a:t>
            </a:r>
            <a:endParaRPr lang="en-US" sz="1600" dirty="0"/>
          </a:p>
        </p:txBody>
      </p:sp>
      <p:sp>
        <p:nvSpPr>
          <p:cNvPr id="18" name="Text 16"/>
          <p:cNvSpPr txBox="1"/>
          <p:nvPr/>
        </p:nvSpPr>
        <p:spPr>
          <a:xfrm>
            <a:off x="9427464" y="2286000"/>
            <a:ext cx="2011680" cy="1188720"/>
          </a:xfrm>
          <a:prstGeom prst="rect">
            <a:avLst/>
          </a:prstGeom>
          <a:noFill/>
          <a:ln/>
        </p:spPr>
        <p:txBody>
          <a:bodyPr wrap="square" lIns="0" tIns="0" rIns="0" bIns="0" rtlCol="0" anchor="t"/>
          <a:lstStyle/>
          <a:p>
            <a:pPr indent="0" marL="0">
              <a:buNone/>
            </a:pPr>
            <a:r>
              <a:rPr lang="en-US" sz="1400" dirty="0">
                <a:solidFill>
                  <a:schemeClr val="bg1"/>
                </a:solidFill>
              </a:rPr>
              <a:t>Geometric mean of the three, scored 0-100</a:t>
            </a:r>
            <a:endParaRPr lang="en-US" sz="1400" dirty="0"/>
          </a:p>
        </p:txBody>
      </p:sp>
      <p:sp>
        <p:nvSpPr>
          <p:cNvPr id="19" name="choice 1"/>
          <p:cNvSpPr/>
          <p:nvPr/>
        </p:nvSpPr>
        <p:spPr>
          <a:xfrm>
            <a:off x="548640" y="3977640"/>
            <a:ext cx="3474720" cy="2148840"/>
          </a:xfrm>
          <a:prstGeom prst="roundRect">
            <a:avLst>
              <a:gd name="adj" fmla="val 5106"/>
            </a:avLst>
          </a:prstGeom>
          <a:solidFill>
            <a:schemeClr val="bg1"/>
          </a:solidFill>
          <a:ln w="9525">
            <a:solidFill>
              <a:srgbClr val="E2E8F0"/>
            </a:solidFill>
            <a:prstDash val="solid"/>
          </a:ln>
        </p:spPr>
      </p:sp>
      <p:sp>
        <p:nvSpPr>
          <p:cNvPr id="20" name="Log scaling tile"/>
          <p:cNvSpPr/>
          <p:nvPr/>
        </p:nvSpPr>
        <p:spPr>
          <a:xfrm>
            <a:off x="777240" y="4206240"/>
            <a:ext cx="548640" cy="548640"/>
          </a:xfrm>
          <a:prstGeom prst="roundRect">
            <a:avLst>
              <a:gd name="adj" fmla="val 22000"/>
            </a:avLst>
          </a:prstGeom>
          <a:solidFill>
            <a:srgbClr val="E6F1F8"/>
          </a:solidFill>
          <a:ln/>
        </p:spPr>
      </p:sp>
      <p:pic>
        <p:nvPicPr>
          <p:cNvPr id="21" name="Log scaling icon" descr="Log scaling">    </p:cNvPr>
          <p:cNvPicPr>
            <a:picLocks noChangeAspect="1"/>
          </p:cNvPicPr>
          <p:nvPr/>
        </p:nvPicPr>
        <p:blipFill>
          <a:blip r:embed="rId1"/>
          <a:stretch>
            <a:fillRect/>
          </a:stretch>
        </p:blipFill>
        <p:spPr>
          <a:xfrm>
            <a:off x="914400" y="4343400"/>
            <a:ext cx="274320" cy="274320"/>
          </a:xfrm>
          <a:prstGeom prst="rect">
            <a:avLst/>
          </a:prstGeom>
        </p:spPr>
      </p:pic>
      <p:sp>
        <p:nvSpPr>
          <p:cNvPr id="22" name="Text 19"/>
          <p:cNvSpPr txBox="1"/>
          <p:nvPr/>
        </p:nvSpPr>
        <p:spPr>
          <a:xfrm>
            <a:off x="1463040" y="4279392"/>
            <a:ext cx="2377440" cy="411480"/>
          </a:xfrm>
          <a:prstGeom prst="rect">
            <a:avLst/>
          </a:prstGeom>
          <a:noFill/>
          <a:ln/>
        </p:spPr>
        <p:txBody>
          <a:bodyPr wrap="square" lIns="0" tIns="0" rIns="0" bIns="0" rtlCol="0" anchor="t"/>
          <a:lstStyle/>
          <a:p>
            <a:pPr indent="0" marL="0">
              <a:buNone/>
            </a:pPr>
            <a:r>
              <a:rPr lang="en-US" sz="1600" b="1" dirty="0">
                <a:solidFill>
                  <a:schemeClr val="tx2"/>
                </a:solidFill>
              </a:rPr>
              <a:t>Log scaling</a:t>
            </a:r>
            <a:endParaRPr lang="en-US" sz="1600" dirty="0"/>
          </a:p>
        </p:txBody>
      </p:sp>
      <p:sp>
        <p:nvSpPr>
          <p:cNvPr id="23" name="Text 20"/>
          <p:cNvSpPr txBox="1"/>
          <p:nvPr/>
        </p:nvSpPr>
        <p:spPr>
          <a:xfrm>
            <a:off x="777240" y="4892040"/>
            <a:ext cx="3017520" cy="1143000"/>
          </a:xfrm>
          <a:prstGeom prst="rect">
            <a:avLst/>
          </a:prstGeom>
          <a:noFill/>
          <a:ln/>
        </p:spPr>
        <p:txBody>
          <a:bodyPr wrap="square" lIns="0" tIns="0" rIns="0" bIns="0" rtlCol="0" anchor="t"/>
          <a:lstStyle/>
          <a:p>
            <a:pPr indent="0" marL="0">
              <a:buNone/>
            </a:pPr>
            <a:r>
              <a:rPr lang="en-US" sz="1300" dirty="0">
                <a:solidFill>
                  <a:schemeClr val="tx1"/>
                </a:solidFill>
              </a:rPr>
              <a:t>Stops giants like Kathmandu flattening every other district onto the same score</a:t>
            </a:r>
            <a:endParaRPr lang="en-US" sz="1300" dirty="0"/>
          </a:p>
        </p:txBody>
      </p:sp>
      <p:sp>
        <p:nvSpPr>
          <p:cNvPr id="24" name="choice 2"/>
          <p:cNvSpPr/>
          <p:nvPr/>
        </p:nvSpPr>
        <p:spPr>
          <a:xfrm>
            <a:off x="4361688" y="3977640"/>
            <a:ext cx="3474720" cy="2148840"/>
          </a:xfrm>
          <a:prstGeom prst="roundRect">
            <a:avLst>
              <a:gd name="adj" fmla="val 5106"/>
            </a:avLst>
          </a:prstGeom>
          <a:solidFill>
            <a:schemeClr val="bg1"/>
          </a:solidFill>
          <a:ln w="9525">
            <a:solidFill>
              <a:srgbClr val="E2E8F0"/>
            </a:solidFill>
            <a:prstDash val="solid"/>
          </a:ln>
        </p:spPr>
      </p:sp>
      <p:sp>
        <p:nvSpPr>
          <p:cNvPr id="25" name="Weights tested tile"/>
          <p:cNvSpPr/>
          <p:nvPr/>
        </p:nvSpPr>
        <p:spPr>
          <a:xfrm>
            <a:off x="4590288" y="4206240"/>
            <a:ext cx="548640" cy="548640"/>
          </a:xfrm>
          <a:prstGeom prst="roundRect">
            <a:avLst>
              <a:gd name="adj" fmla="val 22000"/>
            </a:avLst>
          </a:prstGeom>
          <a:solidFill>
            <a:srgbClr val="E6F1F8"/>
          </a:solidFill>
          <a:ln/>
        </p:spPr>
      </p:sp>
      <p:pic>
        <p:nvPicPr>
          <p:cNvPr id="26" name="Weights tested icon" descr="Weights tested">    </p:cNvPr>
          <p:cNvPicPr>
            <a:picLocks noChangeAspect="1"/>
          </p:cNvPicPr>
          <p:nvPr/>
        </p:nvPicPr>
        <p:blipFill>
          <a:blip r:embed="rId2"/>
          <a:stretch>
            <a:fillRect/>
          </a:stretch>
        </p:blipFill>
        <p:spPr>
          <a:xfrm>
            <a:off x="4727448" y="4343400"/>
            <a:ext cx="274320" cy="274320"/>
          </a:xfrm>
          <a:prstGeom prst="rect">
            <a:avLst/>
          </a:prstGeom>
        </p:spPr>
      </p:pic>
      <p:sp>
        <p:nvSpPr>
          <p:cNvPr id="27" name="Text 23"/>
          <p:cNvSpPr txBox="1"/>
          <p:nvPr/>
        </p:nvSpPr>
        <p:spPr>
          <a:xfrm>
            <a:off x="5276088" y="4279392"/>
            <a:ext cx="2377440" cy="411480"/>
          </a:xfrm>
          <a:prstGeom prst="rect">
            <a:avLst/>
          </a:prstGeom>
          <a:noFill/>
          <a:ln/>
        </p:spPr>
        <p:txBody>
          <a:bodyPr wrap="square" lIns="0" tIns="0" rIns="0" bIns="0" rtlCol="0" anchor="t"/>
          <a:lstStyle/>
          <a:p>
            <a:pPr indent="0" marL="0">
              <a:buNone/>
            </a:pPr>
            <a:r>
              <a:rPr lang="en-US" sz="1600" b="1" dirty="0">
                <a:solidFill>
                  <a:schemeClr val="tx2"/>
                </a:solidFill>
              </a:rPr>
              <a:t>Weights tested</a:t>
            </a:r>
            <a:endParaRPr lang="en-US" sz="1600" dirty="0"/>
          </a:p>
        </p:txBody>
      </p:sp>
      <p:sp>
        <p:nvSpPr>
          <p:cNvPr id="28" name="Text 24"/>
          <p:cNvSpPr txBox="1"/>
          <p:nvPr/>
        </p:nvSpPr>
        <p:spPr>
          <a:xfrm>
            <a:off x="4590288" y="4892040"/>
            <a:ext cx="3017520" cy="1143000"/>
          </a:xfrm>
          <a:prstGeom prst="rect">
            <a:avLst/>
          </a:prstGeom>
          <a:noFill/>
          <a:ln/>
        </p:spPr>
        <p:txBody>
          <a:bodyPr wrap="square" lIns="0" tIns="0" rIns="0" bIns="0" rtlCol="0" anchor="t"/>
          <a:lstStyle/>
          <a:p>
            <a:pPr indent="0" marL="0">
              <a:buNone/>
            </a:pPr>
            <a:r>
              <a:rPr lang="en-US" sz="1300" dirty="0">
                <a:solidFill>
                  <a:schemeClr val="tx1"/>
                </a:solidFill>
              </a:rPr>
              <a:t>Equal weights give almost the same ranking (ρ = 0.99), so our judgment calls don't drive results</a:t>
            </a:r>
            <a:endParaRPr lang="en-US" sz="1300" dirty="0"/>
          </a:p>
        </p:txBody>
      </p:sp>
      <p:sp>
        <p:nvSpPr>
          <p:cNvPr id="29" name="choice 3"/>
          <p:cNvSpPr/>
          <p:nvPr/>
        </p:nvSpPr>
        <p:spPr>
          <a:xfrm>
            <a:off x="8174736" y="3977640"/>
            <a:ext cx="3474720" cy="2148840"/>
          </a:xfrm>
          <a:prstGeom prst="roundRect">
            <a:avLst>
              <a:gd name="adj" fmla="val 5106"/>
            </a:avLst>
          </a:prstGeom>
          <a:solidFill>
            <a:schemeClr val="bg1"/>
          </a:solidFill>
          <a:ln w="9525">
            <a:solidFill>
              <a:srgbClr val="E2E8F0"/>
            </a:solidFill>
            <a:prstDash val="solid"/>
          </a:ln>
        </p:spPr>
      </p:sp>
      <p:sp>
        <p:nvSpPr>
          <p:cNvPr id="30" name="Multiply, don't add tile"/>
          <p:cNvSpPr/>
          <p:nvPr/>
        </p:nvSpPr>
        <p:spPr>
          <a:xfrm>
            <a:off x="8403336" y="4206240"/>
            <a:ext cx="548640" cy="548640"/>
          </a:xfrm>
          <a:prstGeom prst="roundRect">
            <a:avLst>
              <a:gd name="adj" fmla="val 22000"/>
            </a:avLst>
          </a:prstGeom>
          <a:solidFill>
            <a:srgbClr val="E6F1F8"/>
          </a:solidFill>
          <a:ln/>
        </p:spPr>
      </p:sp>
      <p:pic>
        <p:nvPicPr>
          <p:cNvPr id="31" name="Multiply, don't add icon" descr="Multiply, don't add">    </p:cNvPr>
          <p:cNvPicPr>
            <a:picLocks noChangeAspect="1"/>
          </p:cNvPicPr>
          <p:nvPr/>
        </p:nvPicPr>
        <p:blipFill>
          <a:blip r:embed="rId3"/>
          <a:stretch>
            <a:fillRect/>
          </a:stretch>
        </p:blipFill>
        <p:spPr>
          <a:xfrm>
            <a:off x="8540496" y="4343400"/>
            <a:ext cx="274320" cy="274320"/>
          </a:xfrm>
          <a:prstGeom prst="rect">
            <a:avLst/>
          </a:prstGeom>
        </p:spPr>
      </p:pic>
      <p:sp>
        <p:nvSpPr>
          <p:cNvPr id="32" name="Text 27"/>
          <p:cNvSpPr txBox="1"/>
          <p:nvPr/>
        </p:nvSpPr>
        <p:spPr>
          <a:xfrm>
            <a:off x="9089136" y="4279392"/>
            <a:ext cx="2377440" cy="411480"/>
          </a:xfrm>
          <a:prstGeom prst="rect">
            <a:avLst/>
          </a:prstGeom>
          <a:noFill/>
          <a:ln/>
        </p:spPr>
        <p:txBody>
          <a:bodyPr wrap="square" lIns="0" tIns="0" rIns="0" bIns="0" rtlCol="0" anchor="t"/>
          <a:lstStyle/>
          <a:p>
            <a:pPr indent="0" marL="0">
              <a:buNone/>
            </a:pPr>
            <a:r>
              <a:rPr lang="en-US" sz="1600" b="1" dirty="0">
                <a:solidFill>
                  <a:schemeClr val="tx2"/>
                </a:solidFill>
              </a:rPr>
              <a:t>Multiply, don't add</a:t>
            </a:r>
            <a:endParaRPr lang="en-US" sz="1600" dirty="0"/>
          </a:p>
        </p:txBody>
      </p:sp>
      <p:sp>
        <p:nvSpPr>
          <p:cNvPr id="33" name="Text 28"/>
          <p:cNvSpPr txBox="1"/>
          <p:nvPr/>
        </p:nvSpPr>
        <p:spPr>
          <a:xfrm>
            <a:off x="8403336" y="4892040"/>
            <a:ext cx="3017520" cy="1143000"/>
          </a:xfrm>
          <a:prstGeom prst="rect">
            <a:avLst/>
          </a:prstGeom>
          <a:noFill/>
          <a:ln/>
        </p:spPr>
        <p:txBody>
          <a:bodyPr wrap="square" lIns="0" tIns="0" rIns="0" bIns="0" rtlCol="0" anchor="t"/>
          <a:lstStyle/>
          <a:p>
            <a:pPr indent="0" marL="0">
              <a:buNone/>
            </a:pPr>
            <a:r>
              <a:rPr lang="en-US" sz="1300" dirty="0">
                <a:solidFill>
                  <a:schemeClr val="tx1"/>
                </a:solidFill>
              </a:rPr>
              <a:t>No hazard must mean no risk. An additive version ranks similarly anyway (ρ = 0.90)</a:t>
            </a:r>
            <a:endParaRPr lang="en-US" sz="13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RISK INDEX</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The ten highest-risk districts</a:t>
            </a:r>
            <a:endParaRPr lang="en-US" sz="3400" dirty="0"/>
          </a:p>
        </p:txBody>
      </p:sp>
      <p:sp>
        <p:nvSpPr>
          <p:cNvPr id="4" name="chart panel"/>
          <p:cNvSpPr/>
          <p:nvPr/>
        </p:nvSpPr>
        <p:spPr>
          <a:xfrm>
            <a:off x="438912" y="1536192"/>
            <a:ext cx="6986016" cy="4745736"/>
          </a:xfrm>
          <a:prstGeom prst="roundRect">
            <a:avLst>
              <a:gd name="adj" fmla="val 2312"/>
            </a:avLst>
          </a:prstGeom>
          <a:solidFill>
            <a:schemeClr val="bg1"/>
          </a:solidFill>
          <a:ln w="9525">
            <a:solidFill>
              <a:srgbClr val="E2E8F0"/>
            </a:solidFill>
            <a:prstDash val="solid"/>
          </a:ln>
        </p:spPr>
      </p:sp>
      <p:graphicFrame>
        <p:nvGraphicFramePr>
          <p:cNvPr id="5" name="Chart 0" descr=""/>
          <p:cNvGraphicFramePr/>
          <p:nvPr/>
        </p:nvGraphicFramePr>
        <p:xfrm>
          <a:off x="548640" y="164592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1645920"/>
            <a:ext cx="3959352" cy="365760"/>
          </a:xfrm>
          <a:prstGeom prst="rect">
            <a:avLst/>
          </a:prstGeom>
          <a:noFill/>
          <a:ln/>
        </p:spPr>
        <p:txBody>
          <a:bodyPr wrap="square" lIns="0" tIns="0" rIns="0" bIns="0" rtlCol="0" anchor="t"/>
          <a:lstStyle/>
          <a:p>
            <a:pPr indent="0" marL="0">
              <a:buNone/>
            </a:pPr>
            <a:r>
              <a:rPr lang="en-US" sz="1800" b="1" dirty="0">
                <a:solidFill>
                  <a:schemeClr val="tx2"/>
                </a:solidFill>
              </a:rPr>
              <a:t>What the top ten share</a:t>
            </a:r>
            <a:endParaRPr lang="en-US" sz="1800" dirty="0"/>
          </a:p>
        </p:txBody>
      </p:sp>
      <p:sp>
        <p:nvSpPr>
          <p:cNvPr id="7" name="Text 4"/>
          <p:cNvSpPr txBox="1"/>
          <p:nvPr/>
        </p:nvSpPr>
        <p:spPr>
          <a:xfrm>
            <a:off x="7680960" y="2103120"/>
            <a:ext cx="3959352"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Steep mountain terrain and heavy rain</a:t>
            </a:r>
            <a:endParaRPr lang="en-US" sz="1400" dirty="0"/>
          </a:p>
          <a:p>
            <a:pPr marL="342900" indent="-342900">
              <a:spcAft>
                <a:spcPts val="800"/>
              </a:spcAft>
              <a:buSzPct val="100000"/>
              <a:buChar char="•"/>
            </a:pPr>
            <a:r>
              <a:rPr lang="en-US" sz="1400" dirty="0">
                <a:solidFill>
                  <a:schemeClr val="tx1"/>
                </a:solidFill>
              </a:rPr>
              <a:t>Weak road and hospital access</a:t>
            </a:r>
            <a:endParaRPr lang="en-US" sz="1400" dirty="0"/>
          </a:p>
          <a:p>
            <a:pPr marL="342900" indent="-342900">
              <a:spcAft>
                <a:spcPts val="800"/>
              </a:spcAft>
              <a:buSzPct val="100000"/>
              <a:buChar char="•"/>
            </a:pPr>
            <a:r>
              <a:rPr lang="en-US" sz="1400" dirty="0">
                <a:solidFill>
                  <a:schemeClr val="tx1"/>
                </a:solidFill>
              </a:rPr>
              <a:t>Mostly hill and mountain districts, not the big cities</a:t>
            </a:r>
            <a:endParaRPr lang="en-US" sz="1400" dirty="0"/>
          </a:p>
        </p:txBody>
      </p:sp>
      <p:sp>
        <p:nvSpPr>
          <p:cNvPr id="8" name="corridor card"/>
          <p:cNvSpPr/>
          <p:nvPr/>
        </p:nvSpPr>
        <p:spPr>
          <a:xfrm>
            <a:off x="7680960" y="3886200"/>
            <a:ext cx="3959352" cy="2286000"/>
          </a:xfrm>
          <a:prstGeom prst="roundRect">
            <a:avLst>
              <a:gd name="adj" fmla="val 4800"/>
            </a:avLst>
          </a:prstGeom>
          <a:solidFill>
            <a:schemeClr val="bg1"/>
          </a:solidFill>
          <a:ln w="9525">
            <a:solidFill>
              <a:srgbClr val="E2E8F0"/>
            </a:solidFill>
            <a:prstDash val="solid"/>
          </a:ln>
        </p:spPr>
      </p:sp>
      <p:sp>
        <p:nvSpPr>
          <p:cNvPr id="9" name="Text 6"/>
          <p:cNvSpPr txBox="1"/>
          <p:nvPr/>
        </p:nvSpPr>
        <p:spPr>
          <a:xfrm>
            <a:off x="7909560" y="4069080"/>
            <a:ext cx="3520440" cy="365760"/>
          </a:xfrm>
          <a:prstGeom prst="rect">
            <a:avLst/>
          </a:prstGeom>
          <a:noFill/>
          <a:ln/>
        </p:spPr>
        <p:txBody>
          <a:bodyPr wrap="square" lIns="0" tIns="0" rIns="0" bIns="0" rtlCol="0" anchor="t"/>
          <a:lstStyle/>
          <a:p>
            <a:pPr indent="0" marL="0">
              <a:buNone/>
            </a:pPr>
            <a:r>
              <a:rPr lang="en-US" sz="1500" b="1" dirty="0">
                <a:solidFill>
                  <a:schemeClr val="accent1"/>
                </a:solidFill>
              </a:rPr>
              <a:t>Where is the 26 Aug corridor?</a:t>
            </a:r>
            <a:endParaRPr lang="en-US" sz="1500" dirty="0"/>
          </a:p>
        </p:txBody>
      </p:sp>
      <p:sp>
        <p:nvSpPr>
          <p:cNvPr id="10" name="Text 7"/>
          <p:cNvSpPr txBox="1"/>
          <p:nvPr/>
        </p:nvSpPr>
        <p:spPr>
          <a:xfrm>
            <a:off x="7909560" y="4480560"/>
            <a:ext cx="3520440" cy="1554480"/>
          </a:xfrm>
          <a:prstGeom prst="rect">
            <a:avLst/>
          </a:prstGeom>
          <a:noFill/>
          <a:ln/>
        </p:spPr>
        <p:txBody>
          <a:bodyPr wrap="square" lIns="0" tIns="0" rIns="0" bIns="0" rtlCol="0" anchor="t"/>
          <a:lstStyle/>
          <a:p>
            <a:pPr indent="0" marL="0">
              <a:buNone/>
            </a:pPr>
            <a:r>
              <a:rPr lang="en-US" sz="1400" dirty="0">
                <a:solidFill>
                  <a:schemeClr val="tx1"/>
                </a:solidFill>
              </a:rPr>
              <a:t>Sindhupalchok #21, Nuwakot #40, Rasuwa #47 of 77. Our index does not flag it. The validation explains why.</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VALIDATION</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Tested against 12,341 real disasters</a:t>
            </a:r>
            <a:endParaRPr lang="en-US" sz="3400" dirty="0"/>
          </a:p>
        </p:txBody>
      </p:sp>
      <p:sp>
        <p:nvSpPr>
          <p:cNvPr id="4" name="tag F7"/>
          <p:cNvSpPr/>
          <p:nvPr/>
        </p:nvSpPr>
        <p:spPr>
          <a:xfrm>
            <a:off x="9759391"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9759391"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F7</a:t>
            </a:r>
            <a:endParaRPr lang="en-US" sz="1100" dirty="0"/>
          </a:p>
        </p:txBody>
      </p:sp>
      <p:sp>
        <p:nvSpPr>
          <p:cNvPr id="6" name="tag F8"/>
          <p:cNvSpPr/>
          <p:nvPr/>
        </p:nvSpPr>
        <p:spPr>
          <a:xfrm>
            <a:off x="10417759" y="301752"/>
            <a:ext cx="566928" cy="292608"/>
          </a:xfrm>
          <a:prstGeom prst="roundRect">
            <a:avLst>
              <a:gd name="adj" fmla="val 12500"/>
            </a:avLst>
          </a:prstGeom>
          <a:solidFill>
            <a:schemeClr val="bg1"/>
          </a:solidFill>
          <a:ln w="9525">
            <a:solidFill>
              <a:srgbClr val="9DBAD6"/>
            </a:solidFill>
            <a:prstDash val="solid"/>
          </a:ln>
        </p:spPr>
      </p:sp>
      <p:sp>
        <p:nvSpPr>
          <p:cNvPr id="7" name="Text 5"/>
          <p:cNvSpPr txBox="1"/>
          <p:nvPr/>
        </p:nvSpPr>
        <p:spPr>
          <a:xfrm>
            <a:off x="10417759"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F8</a:t>
            </a:r>
            <a:endParaRPr lang="en-US" sz="1100" dirty="0"/>
          </a:p>
        </p:txBody>
      </p:sp>
      <p:sp>
        <p:nvSpPr>
          <p:cNvPr id="8" name="tag F9"/>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9" name="Text 7"/>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F9</a:t>
            </a:r>
            <a:endParaRPr lang="en-US" sz="1100" dirty="0"/>
          </a:p>
        </p:txBody>
      </p:sp>
      <p:sp>
        <p:nvSpPr>
          <p:cNvPr id="10" name="Landslide index card"/>
          <p:cNvSpPr/>
          <p:nvPr/>
        </p:nvSpPr>
        <p:spPr>
          <a:xfrm>
            <a:off x="548640" y="1645920"/>
            <a:ext cx="3474720" cy="3794760"/>
          </a:xfrm>
          <a:prstGeom prst="roundRect">
            <a:avLst>
              <a:gd name="adj" fmla="val 3158"/>
            </a:avLst>
          </a:prstGeom>
          <a:solidFill>
            <a:schemeClr val="bg1"/>
          </a:solidFill>
          <a:ln w="9525">
            <a:solidFill>
              <a:srgbClr val="E2E8F0"/>
            </a:solidFill>
            <a:prstDash val="solid"/>
          </a:ln>
        </p:spPr>
      </p:sp>
      <p:sp>
        <p:nvSpPr>
          <p:cNvPr id="11" name="Landslide index tile"/>
          <p:cNvSpPr/>
          <p:nvPr/>
        </p:nvSpPr>
        <p:spPr>
          <a:xfrm>
            <a:off x="822960" y="1920240"/>
            <a:ext cx="640080" cy="640080"/>
          </a:xfrm>
          <a:prstGeom prst="roundRect">
            <a:avLst>
              <a:gd name="adj" fmla="val 22000"/>
            </a:avLst>
          </a:prstGeom>
          <a:solidFill>
            <a:srgbClr val="E6F1F8"/>
          </a:solidFill>
          <a:ln/>
        </p:spPr>
      </p:sp>
      <p:pic>
        <p:nvPicPr>
          <p:cNvPr id="12" name="Landslide index icon" descr="Landslide index">    </p:cNvPr>
          <p:cNvPicPr>
            <a:picLocks noChangeAspect="1"/>
          </p:cNvPicPr>
          <p:nvPr/>
        </p:nvPicPr>
        <p:blipFill>
          <a:blip r:embed="rId1"/>
          <a:stretch>
            <a:fillRect/>
          </a:stretch>
        </p:blipFill>
        <p:spPr>
          <a:xfrm>
            <a:off x="982980" y="2080260"/>
            <a:ext cx="320040" cy="320040"/>
          </a:xfrm>
          <a:prstGeom prst="rect">
            <a:avLst/>
          </a:prstGeom>
        </p:spPr>
      </p:pic>
      <p:sp>
        <p:nvSpPr>
          <p:cNvPr id="13" name="Text 10"/>
          <p:cNvSpPr txBox="1"/>
          <p:nvPr/>
        </p:nvSpPr>
        <p:spPr>
          <a:xfrm>
            <a:off x="1645920" y="2057400"/>
            <a:ext cx="2194560" cy="365760"/>
          </a:xfrm>
          <a:prstGeom prst="rect">
            <a:avLst/>
          </a:prstGeom>
          <a:noFill/>
          <a:ln/>
        </p:spPr>
        <p:txBody>
          <a:bodyPr wrap="square" lIns="0" tIns="0" rIns="0" bIns="0" rtlCol="0" anchor="t"/>
          <a:lstStyle/>
          <a:p>
            <a:pPr indent="0" marL="0">
              <a:buNone/>
            </a:pPr>
            <a:r>
              <a:rPr lang="en-US" sz="1700" b="1" dirty="0">
                <a:solidFill>
                  <a:schemeClr val="tx2"/>
                </a:solidFill>
              </a:rPr>
              <a:t>Landslide index</a:t>
            </a:r>
            <a:endParaRPr lang="en-US" sz="1700" dirty="0"/>
          </a:p>
        </p:txBody>
      </p:sp>
      <p:sp>
        <p:nvSpPr>
          <p:cNvPr id="14" name="Text 11"/>
          <p:cNvSpPr txBox="1"/>
          <p:nvPr/>
        </p:nvSpPr>
        <p:spPr>
          <a:xfrm>
            <a:off x="822960" y="2743200"/>
            <a:ext cx="2926080" cy="731520"/>
          </a:xfrm>
          <a:prstGeom prst="rect">
            <a:avLst/>
          </a:prstGeom>
          <a:noFill/>
          <a:ln/>
        </p:spPr>
        <p:txBody>
          <a:bodyPr wrap="square" lIns="0" tIns="0" rIns="0" bIns="0" rtlCol="0" anchor="t"/>
          <a:lstStyle/>
          <a:p>
            <a:pPr indent="0" marL="0">
              <a:buNone/>
            </a:pPr>
            <a:r>
              <a:rPr lang="en-US" sz="4000" b="1" dirty="0">
                <a:solidFill>
                  <a:schemeClr val="tx1"/>
                </a:solidFill>
              </a:rPr>
              <a:t>ρ = 0.52</a:t>
            </a:r>
            <a:endParaRPr lang="en-US" sz="4000" dirty="0"/>
          </a:p>
        </p:txBody>
      </p:sp>
      <p:sp>
        <p:nvSpPr>
          <p:cNvPr id="15" name="Text 12"/>
          <p:cNvSpPr txBox="1"/>
          <p:nvPr/>
        </p:nvSpPr>
        <p:spPr>
          <a:xfrm>
            <a:off x="822960" y="3474720"/>
            <a:ext cx="2926080" cy="320040"/>
          </a:xfrm>
          <a:prstGeom prst="rect">
            <a:avLst/>
          </a:prstGeom>
          <a:noFill/>
          <a:ln/>
        </p:spPr>
        <p:txBody>
          <a:bodyPr wrap="square" lIns="0" tIns="0" rIns="0" bIns="0" rtlCol="0" anchor="t"/>
          <a:lstStyle/>
          <a:p>
            <a:pPr indent="0" marL="0">
              <a:buNone/>
            </a:pPr>
            <a:r>
              <a:rPr lang="en-US" sz="1300" dirty="0">
                <a:solidFill>
                  <a:srgbClr val="526579"/>
                </a:solidFill>
              </a:rPr>
              <a:t>vs recorded landslides</a:t>
            </a:r>
            <a:endParaRPr lang="en-US" sz="1300" dirty="0"/>
          </a:p>
        </p:txBody>
      </p:sp>
      <p:sp>
        <p:nvSpPr>
          <p:cNvPr id="16" name="Text 13"/>
          <p:cNvSpPr txBox="1"/>
          <p:nvPr/>
        </p:nvSpPr>
        <p:spPr>
          <a:xfrm>
            <a:off x="822960" y="3931920"/>
            <a:ext cx="2926080" cy="320040"/>
          </a:xfrm>
          <a:prstGeom prst="rect">
            <a:avLst/>
          </a:prstGeom>
          <a:noFill/>
          <a:ln/>
        </p:spPr>
        <p:txBody>
          <a:bodyPr wrap="square" lIns="0" tIns="0" rIns="0" bIns="0" rtlCol="0" anchor="t"/>
          <a:lstStyle/>
          <a:p>
            <a:pPr indent="0" marL="0">
              <a:buNone/>
            </a:pPr>
            <a:r>
              <a:rPr lang="en-US" sz="1400" b="1" spc="200" kern="0" dirty="0">
                <a:solidFill>
                  <a:srgbClr val="0072B2"/>
                </a:solidFill>
              </a:rPr>
              <a:t>VALIDATED</a:t>
            </a:r>
            <a:endParaRPr lang="en-US" sz="1400" dirty="0"/>
          </a:p>
        </p:txBody>
      </p:sp>
      <p:sp>
        <p:nvSpPr>
          <p:cNvPr id="17" name="Text 14"/>
          <p:cNvSpPr txBox="1"/>
          <p:nvPr/>
        </p:nvSpPr>
        <p:spPr>
          <a:xfrm>
            <a:off x="822960" y="4297680"/>
            <a:ext cx="2926080" cy="1051560"/>
          </a:xfrm>
          <a:prstGeom prst="rect">
            <a:avLst/>
          </a:prstGeom>
          <a:noFill/>
          <a:ln/>
        </p:spPr>
        <p:txBody>
          <a:bodyPr wrap="square" lIns="0" tIns="0" rIns="0" bIns="0" rtlCol="0" anchor="t"/>
          <a:lstStyle/>
          <a:p>
            <a:pPr indent="0" marL="0">
              <a:buNone/>
            </a:pPr>
            <a:r>
              <a:rPr lang="en-US" sz="1300" dirty="0">
                <a:solidFill>
                  <a:schemeClr val="tx1"/>
                </a:solidFill>
              </a:rPr>
              <a:t>Terrain ruggedness is the strongest driver; explains about half the variation (R² = 0.49)</a:t>
            </a:r>
            <a:endParaRPr lang="en-US" sz="1300" dirty="0"/>
          </a:p>
        </p:txBody>
      </p:sp>
      <p:sp>
        <p:nvSpPr>
          <p:cNvPr id="18" name="Combined index card"/>
          <p:cNvSpPr/>
          <p:nvPr/>
        </p:nvSpPr>
        <p:spPr>
          <a:xfrm>
            <a:off x="4361688" y="1645920"/>
            <a:ext cx="3474720" cy="3794760"/>
          </a:xfrm>
          <a:prstGeom prst="roundRect">
            <a:avLst>
              <a:gd name="adj" fmla="val 3158"/>
            </a:avLst>
          </a:prstGeom>
          <a:solidFill>
            <a:schemeClr val="bg1"/>
          </a:solidFill>
          <a:ln w="9525">
            <a:solidFill>
              <a:srgbClr val="E2E8F0"/>
            </a:solidFill>
            <a:prstDash val="solid"/>
          </a:ln>
        </p:spPr>
      </p:sp>
      <p:sp>
        <p:nvSpPr>
          <p:cNvPr id="19" name="Combined index tile"/>
          <p:cNvSpPr/>
          <p:nvPr/>
        </p:nvSpPr>
        <p:spPr>
          <a:xfrm>
            <a:off x="4636008" y="1920240"/>
            <a:ext cx="640080" cy="640080"/>
          </a:xfrm>
          <a:prstGeom prst="roundRect">
            <a:avLst>
              <a:gd name="adj" fmla="val 22000"/>
            </a:avLst>
          </a:prstGeom>
          <a:solidFill>
            <a:srgbClr val="E6F1F8"/>
          </a:solidFill>
          <a:ln/>
        </p:spPr>
      </p:sp>
      <p:pic>
        <p:nvPicPr>
          <p:cNvPr id="20" name="Combined index icon" descr="Combined index">    </p:cNvPr>
          <p:cNvPicPr>
            <a:picLocks noChangeAspect="1"/>
          </p:cNvPicPr>
          <p:nvPr/>
        </p:nvPicPr>
        <p:blipFill>
          <a:blip r:embed="rId2"/>
          <a:stretch>
            <a:fillRect/>
          </a:stretch>
        </p:blipFill>
        <p:spPr>
          <a:xfrm>
            <a:off x="4796028" y="2080260"/>
            <a:ext cx="320040" cy="320040"/>
          </a:xfrm>
          <a:prstGeom prst="rect">
            <a:avLst/>
          </a:prstGeom>
        </p:spPr>
      </p:pic>
      <p:sp>
        <p:nvSpPr>
          <p:cNvPr id="21" name="Text 17"/>
          <p:cNvSpPr txBox="1"/>
          <p:nvPr/>
        </p:nvSpPr>
        <p:spPr>
          <a:xfrm>
            <a:off x="5458968" y="2057400"/>
            <a:ext cx="2194560" cy="365760"/>
          </a:xfrm>
          <a:prstGeom prst="rect">
            <a:avLst/>
          </a:prstGeom>
          <a:noFill/>
          <a:ln/>
        </p:spPr>
        <p:txBody>
          <a:bodyPr wrap="square" lIns="0" tIns="0" rIns="0" bIns="0" rtlCol="0" anchor="t"/>
          <a:lstStyle/>
          <a:p>
            <a:pPr indent="0" marL="0">
              <a:buNone/>
            </a:pPr>
            <a:r>
              <a:rPr lang="en-US" sz="1700" b="1" dirty="0">
                <a:solidFill>
                  <a:schemeClr val="tx2"/>
                </a:solidFill>
              </a:rPr>
              <a:t>Combined index</a:t>
            </a:r>
            <a:endParaRPr lang="en-US" sz="1700" dirty="0"/>
          </a:p>
        </p:txBody>
      </p:sp>
      <p:sp>
        <p:nvSpPr>
          <p:cNvPr id="22" name="Text 18"/>
          <p:cNvSpPr txBox="1"/>
          <p:nvPr/>
        </p:nvSpPr>
        <p:spPr>
          <a:xfrm>
            <a:off x="4636008" y="2743200"/>
            <a:ext cx="2926080" cy="731520"/>
          </a:xfrm>
          <a:prstGeom prst="rect">
            <a:avLst/>
          </a:prstGeom>
          <a:noFill/>
          <a:ln/>
        </p:spPr>
        <p:txBody>
          <a:bodyPr wrap="square" lIns="0" tIns="0" rIns="0" bIns="0" rtlCol="0" anchor="t"/>
          <a:lstStyle/>
          <a:p>
            <a:pPr indent="0" marL="0">
              <a:buNone/>
            </a:pPr>
            <a:r>
              <a:rPr lang="en-US" sz="4000" b="1" dirty="0">
                <a:solidFill>
                  <a:schemeClr val="tx1"/>
                </a:solidFill>
              </a:rPr>
              <a:t>ρ = 0.39</a:t>
            </a:r>
            <a:endParaRPr lang="en-US" sz="4000" dirty="0"/>
          </a:p>
        </p:txBody>
      </p:sp>
      <p:sp>
        <p:nvSpPr>
          <p:cNvPr id="23" name="Text 19"/>
          <p:cNvSpPr txBox="1"/>
          <p:nvPr/>
        </p:nvSpPr>
        <p:spPr>
          <a:xfrm>
            <a:off x="4636008" y="3474720"/>
            <a:ext cx="2926080" cy="320040"/>
          </a:xfrm>
          <a:prstGeom prst="rect">
            <a:avLst/>
          </a:prstGeom>
          <a:noFill/>
          <a:ln/>
        </p:spPr>
        <p:txBody>
          <a:bodyPr wrap="square" lIns="0" tIns="0" rIns="0" bIns="0" rtlCol="0" anchor="t"/>
          <a:lstStyle/>
          <a:p>
            <a:pPr indent="0" marL="0">
              <a:buNone/>
            </a:pPr>
            <a:r>
              <a:rPr lang="en-US" sz="1300" dirty="0">
                <a:solidFill>
                  <a:srgbClr val="526579"/>
                </a:solidFill>
              </a:rPr>
              <a:t>vs all events (0.43 vs deaths)</a:t>
            </a:r>
            <a:endParaRPr lang="en-US" sz="1300" dirty="0"/>
          </a:p>
        </p:txBody>
      </p:sp>
      <p:sp>
        <p:nvSpPr>
          <p:cNvPr id="24" name="Text 20"/>
          <p:cNvSpPr txBox="1"/>
          <p:nvPr/>
        </p:nvSpPr>
        <p:spPr>
          <a:xfrm>
            <a:off x="4636008" y="3931920"/>
            <a:ext cx="2926080" cy="320040"/>
          </a:xfrm>
          <a:prstGeom prst="rect">
            <a:avLst/>
          </a:prstGeom>
          <a:noFill/>
          <a:ln/>
        </p:spPr>
        <p:txBody>
          <a:bodyPr wrap="square" lIns="0" tIns="0" rIns="0" bIns="0" rtlCol="0" anchor="t"/>
          <a:lstStyle/>
          <a:p>
            <a:pPr indent="0" marL="0">
              <a:buNone/>
            </a:pPr>
            <a:r>
              <a:rPr lang="en-US" sz="1400" b="1" spc="200" kern="0" dirty="0">
                <a:solidFill>
                  <a:srgbClr val="B84A00"/>
                </a:solidFill>
              </a:rPr>
              <a:t>MODERATE</a:t>
            </a:r>
            <a:endParaRPr lang="en-US" sz="1400" dirty="0"/>
          </a:p>
        </p:txBody>
      </p:sp>
      <p:sp>
        <p:nvSpPr>
          <p:cNvPr id="25" name="Text 21"/>
          <p:cNvSpPr txBox="1"/>
          <p:nvPr/>
        </p:nvSpPr>
        <p:spPr>
          <a:xfrm>
            <a:off x="4636008" y="4297680"/>
            <a:ext cx="2926080" cy="1051560"/>
          </a:xfrm>
          <a:prstGeom prst="rect">
            <a:avLst/>
          </a:prstGeom>
          <a:noFill/>
          <a:ln/>
        </p:spPr>
        <p:txBody>
          <a:bodyPr wrap="square" lIns="0" tIns="0" rIns="0" bIns="0" rtlCol="0" anchor="t"/>
          <a:lstStyle/>
          <a:p>
            <a:pPr indent="0" marL="0">
              <a:buNone/>
            </a:pPr>
            <a:r>
              <a:rPr lang="en-US" sz="1300" dirty="0">
                <a:solidFill>
                  <a:schemeClr val="tx1"/>
                </a:solidFill>
              </a:rPr>
              <a:t>Significant and useful, but driven almost entirely by its landslide part</a:t>
            </a:r>
            <a:endParaRPr lang="en-US" sz="1300" dirty="0"/>
          </a:p>
        </p:txBody>
      </p:sp>
      <p:sp>
        <p:nvSpPr>
          <p:cNvPr id="26" name="Flood index card"/>
          <p:cNvSpPr/>
          <p:nvPr/>
        </p:nvSpPr>
        <p:spPr>
          <a:xfrm>
            <a:off x="8174736" y="1645920"/>
            <a:ext cx="3474720" cy="3794760"/>
          </a:xfrm>
          <a:prstGeom prst="roundRect">
            <a:avLst>
              <a:gd name="adj" fmla="val 3158"/>
            </a:avLst>
          </a:prstGeom>
          <a:solidFill>
            <a:schemeClr val="bg1"/>
          </a:solidFill>
          <a:ln w="9525">
            <a:solidFill>
              <a:srgbClr val="E2E8F0"/>
            </a:solidFill>
            <a:prstDash val="solid"/>
          </a:ln>
        </p:spPr>
      </p:sp>
      <p:sp>
        <p:nvSpPr>
          <p:cNvPr id="27" name="Flood index tile"/>
          <p:cNvSpPr/>
          <p:nvPr/>
        </p:nvSpPr>
        <p:spPr>
          <a:xfrm>
            <a:off x="8449056" y="1920240"/>
            <a:ext cx="640080" cy="640080"/>
          </a:xfrm>
          <a:prstGeom prst="roundRect">
            <a:avLst>
              <a:gd name="adj" fmla="val 22000"/>
            </a:avLst>
          </a:prstGeom>
          <a:solidFill>
            <a:srgbClr val="E6F1F8"/>
          </a:solidFill>
          <a:ln/>
        </p:spPr>
      </p:sp>
      <p:pic>
        <p:nvPicPr>
          <p:cNvPr id="28" name="Flood index icon" descr="Flood index">    </p:cNvPr>
          <p:cNvPicPr>
            <a:picLocks noChangeAspect="1"/>
          </p:cNvPicPr>
          <p:nvPr/>
        </p:nvPicPr>
        <p:blipFill>
          <a:blip r:embed="rId3"/>
          <a:stretch>
            <a:fillRect/>
          </a:stretch>
        </p:blipFill>
        <p:spPr>
          <a:xfrm>
            <a:off x="8609076" y="2080260"/>
            <a:ext cx="320040" cy="320040"/>
          </a:xfrm>
          <a:prstGeom prst="rect">
            <a:avLst/>
          </a:prstGeom>
        </p:spPr>
      </p:pic>
      <p:sp>
        <p:nvSpPr>
          <p:cNvPr id="29" name="Text 24"/>
          <p:cNvSpPr txBox="1"/>
          <p:nvPr/>
        </p:nvSpPr>
        <p:spPr>
          <a:xfrm>
            <a:off x="9272016" y="2057400"/>
            <a:ext cx="2194560" cy="365760"/>
          </a:xfrm>
          <a:prstGeom prst="rect">
            <a:avLst/>
          </a:prstGeom>
          <a:noFill/>
          <a:ln/>
        </p:spPr>
        <p:txBody>
          <a:bodyPr wrap="square" lIns="0" tIns="0" rIns="0" bIns="0" rtlCol="0" anchor="t"/>
          <a:lstStyle/>
          <a:p>
            <a:pPr indent="0" marL="0">
              <a:buNone/>
            </a:pPr>
            <a:r>
              <a:rPr lang="en-US" sz="1700" b="1" dirty="0">
                <a:solidFill>
                  <a:schemeClr val="tx2"/>
                </a:solidFill>
              </a:rPr>
              <a:t>Flood index</a:t>
            </a:r>
            <a:endParaRPr lang="en-US" sz="1700" dirty="0"/>
          </a:p>
        </p:txBody>
      </p:sp>
      <p:sp>
        <p:nvSpPr>
          <p:cNvPr id="30" name="Text 25"/>
          <p:cNvSpPr txBox="1"/>
          <p:nvPr/>
        </p:nvSpPr>
        <p:spPr>
          <a:xfrm>
            <a:off x="8449056" y="2743200"/>
            <a:ext cx="2926080" cy="731520"/>
          </a:xfrm>
          <a:prstGeom prst="rect">
            <a:avLst/>
          </a:prstGeom>
          <a:noFill/>
          <a:ln/>
        </p:spPr>
        <p:txBody>
          <a:bodyPr wrap="square" lIns="0" tIns="0" rIns="0" bIns="0" rtlCol="0" anchor="t"/>
          <a:lstStyle/>
          <a:p>
            <a:pPr indent="0" marL="0">
              <a:buNone/>
            </a:pPr>
            <a:r>
              <a:rPr lang="en-US" sz="4000" b="1" dirty="0">
                <a:solidFill>
                  <a:schemeClr val="tx1"/>
                </a:solidFill>
              </a:rPr>
              <a:t>ρ = 0.24</a:t>
            </a:r>
            <a:endParaRPr lang="en-US" sz="4000" dirty="0"/>
          </a:p>
        </p:txBody>
      </p:sp>
      <p:sp>
        <p:nvSpPr>
          <p:cNvPr id="31" name="Text 26"/>
          <p:cNvSpPr txBox="1"/>
          <p:nvPr/>
        </p:nvSpPr>
        <p:spPr>
          <a:xfrm>
            <a:off x="8449056" y="3474720"/>
            <a:ext cx="2926080" cy="320040"/>
          </a:xfrm>
          <a:prstGeom prst="rect">
            <a:avLst/>
          </a:prstGeom>
          <a:noFill/>
          <a:ln/>
        </p:spPr>
        <p:txBody>
          <a:bodyPr wrap="square" lIns="0" tIns="0" rIns="0" bIns="0" rtlCol="0" anchor="t"/>
          <a:lstStyle/>
          <a:p>
            <a:pPr indent="0" marL="0">
              <a:buNone/>
            </a:pPr>
            <a:r>
              <a:rPr lang="en-US" sz="1300" dirty="0">
                <a:solidFill>
                  <a:srgbClr val="526579"/>
                </a:solidFill>
              </a:rPr>
              <a:t>vs recorded floods</a:t>
            </a:r>
            <a:endParaRPr lang="en-US" sz="1300" dirty="0"/>
          </a:p>
        </p:txBody>
      </p:sp>
      <p:sp>
        <p:nvSpPr>
          <p:cNvPr id="32" name="Text 27"/>
          <p:cNvSpPr txBox="1"/>
          <p:nvPr/>
        </p:nvSpPr>
        <p:spPr>
          <a:xfrm>
            <a:off x="8449056" y="3931920"/>
            <a:ext cx="2926080" cy="320040"/>
          </a:xfrm>
          <a:prstGeom prst="rect">
            <a:avLst/>
          </a:prstGeom>
          <a:noFill/>
          <a:ln/>
        </p:spPr>
        <p:txBody>
          <a:bodyPr wrap="square" lIns="0" tIns="0" rIns="0" bIns="0" rtlCol="0" anchor="t"/>
          <a:lstStyle/>
          <a:p>
            <a:pPr indent="0" marL="0">
              <a:buNone/>
            </a:pPr>
            <a:r>
              <a:rPr lang="en-US" sz="1400" b="1" spc="200" kern="0" dirty="0">
                <a:solidFill>
                  <a:srgbClr val="D55E00"/>
                </a:solidFill>
              </a:rPr>
              <a:t>NOT VALIDATED</a:t>
            </a:r>
            <a:endParaRPr lang="en-US" sz="1400" dirty="0"/>
          </a:p>
        </p:txBody>
      </p:sp>
      <p:sp>
        <p:nvSpPr>
          <p:cNvPr id="33" name="Text 28"/>
          <p:cNvSpPr txBox="1"/>
          <p:nvPr/>
        </p:nvSpPr>
        <p:spPr>
          <a:xfrm>
            <a:off x="8449056" y="4297680"/>
            <a:ext cx="2926080" cy="1051560"/>
          </a:xfrm>
          <a:prstGeom prst="rect">
            <a:avLst/>
          </a:prstGeom>
          <a:noFill/>
          <a:ln/>
        </p:spPr>
        <p:txBody>
          <a:bodyPr wrap="square" lIns="0" tIns="0" rIns="0" bIns="0" rtlCol="0" anchor="t"/>
          <a:lstStyle/>
          <a:p>
            <a:pPr indent="0" marL="0">
              <a:buNone/>
            </a:pPr>
            <a:r>
              <a:rPr lang="en-US" sz="1300" dirty="0">
                <a:solidFill>
                  <a:schemeClr val="tx1"/>
                </a:solidFill>
              </a:rPr>
              <a:t>Floods happen where our variables don't look. Explained on the next slide</a:t>
            </a:r>
            <a:endParaRPr lang="en-US" sz="1300" dirty="0"/>
          </a:p>
        </p:txBody>
      </p:sp>
      <p:sp>
        <p:nvSpPr>
          <p:cNvPr id="34" name="Text 29"/>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400" b="1" dirty="0">
                <a:solidFill>
                  <a:schemeClr val="tx2"/>
                </a:solidFill>
              </a:rPr>
              <a:t>Reading ρ (rank correlation across 77 districts): </a:t>
            </a:r>
            <a:pPr indent="0" marL="0">
              <a:buNone/>
            </a:pPr>
            <a:r>
              <a:rPr lang="en-US" sz="1400" dirty="0">
                <a:solidFill>
                  <a:schemeClr val="tx1"/>
                </a:solidFill>
              </a:rPr>
              <a:t>0 = no link  |  0.3 = weak  |  0.5 = moderate  |  0.7+ = strong</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VALIDATION  |  FLOODS</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Why the flood index fails: floods are on the plains</a:t>
            </a:r>
            <a:endParaRPr lang="en-US" sz="3400" dirty="0"/>
          </a:p>
        </p:txBody>
      </p:sp>
      <p:sp>
        <p:nvSpPr>
          <p:cNvPr id="4" name="tag F9"/>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F9</a:t>
            </a:r>
            <a:endParaRPr lang="en-US" sz="1100" dirty="0"/>
          </a:p>
        </p:txBody>
      </p:sp>
      <p:sp>
        <p:nvSpPr>
          <p:cNvPr id="6" name="chart panel"/>
          <p:cNvSpPr/>
          <p:nvPr/>
        </p:nvSpPr>
        <p:spPr>
          <a:xfrm>
            <a:off x="438912" y="1536192"/>
            <a:ext cx="6254496" cy="4425696"/>
          </a:xfrm>
          <a:prstGeom prst="roundRect">
            <a:avLst>
              <a:gd name="adj" fmla="val 2479"/>
            </a:avLst>
          </a:prstGeom>
          <a:solidFill>
            <a:schemeClr val="bg1"/>
          </a:solidFill>
          <a:ln w="9525">
            <a:solidFill>
              <a:srgbClr val="E2E8F0"/>
            </a:solidFill>
            <a:prstDash val="solid"/>
          </a:ln>
        </p:spPr>
      </p:sp>
      <p:graphicFrame>
        <p:nvGraphicFramePr>
          <p:cNvPr id="7" name="Chart 0" descr=""/>
          <p:cNvGraphicFramePr/>
          <p:nvPr/>
        </p:nvGraphicFramePr>
        <p:xfrm>
          <a:off x="548640" y="164592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949440" y="1645920"/>
            <a:ext cx="4690872" cy="365760"/>
          </a:xfrm>
          <a:prstGeom prst="rect">
            <a:avLst/>
          </a:prstGeom>
          <a:noFill/>
          <a:ln/>
        </p:spPr>
        <p:txBody>
          <a:bodyPr wrap="square" lIns="0" tIns="0" rIns="0" bIns="0" rtlCol="0" anchor="t"/>
          <a:lstStyle/>
          <a:p>
            <a:pPr indent="0" marL="0">
              <a:buNone/>
            </a:pPr>
            <a:r>
              <a:rPr lang="en-US" sz="1800" b="1" dirty="0">
                <a:solidFill>
                  <a:schemeClr val="tx2"/>
                </a:solidFill>
              </a:rPr>
              <a:t>Most recorded floods</a:t>
            </a:r>
            <a:endParaRPr lang="en-US" sz="1800" dirty="0"/>
          </a:p>
        </p:txBody>
      </p:sp>
      <p:sp>
        <p:nvSpPr>
          <p:cNvPr id="9" name="Text 6"/>
          <p:cNvSpPr txBox="1"/>
          <p:nvPr/>
        </p:nvSpPr>
        <p:spPr>
          <a:xfrm>
            <a:off x="6949440" y="2057400"/>
            <a:ext cx="4690872" cy="411480"/>
          </a:xfrm>
          <a:prstGeom prst="rect">
            <a:avLst/>
          </a:prstGeom>
          <a:noFill/>
          <a:ln/>
        </p:spPr>
        <p:txBody>
          <a:bodyPr wrap="square" lIns="0" tIns="0" rIns="0" bIns="0" rtlCol="0" anchor="t"/>
          <a:lstStyle/>
          <a:p>
            <a:pPr indent="0" marL="0">
              <a:buNone/>
            </a:pPr>
            <a:r>
              <a:rPr lang="en-US" sz="1600" b="1" dirty="0">
                <a:solidFill>
                  <a:schemeClr val="accent1"/>
                </a:solidFill>
              </a:rPr>
              <a:t>Jhapa, Morang, Kathmandu, Sunsari, Kailali</a:t>
            </a:r>
            <a:endParaRPr lang="en-US" sz="1600" dirty="0"/>
          </a:p>
        </p:txBody>
      </p:sp>
      <p:sp>
        <p:nvSpPr>
          <p:cNvPr id="10" name="Text 7"/>
          <p:cNvSpPr txBox="1"/>
          <p:nvPr/>
        </p:nvSpPr>
        <p:spPr>
          <a:xfrm>
            <a:off x="6949440" y="2514600"/>
            <a:ext cx="4690872" cy="731520"/>
          </a:xfrm>
          <a:prstGeom prst="rect">
            <a:avLst/>
          </a:prstGeom>
          <a:noFill/>
          <a:ln/>
        </p:spPr>
        <p:txBody>
          <a:bodyPr wrap="square" lIns="0" tIns="0" rIns="0" bIns="0" rtlCol="0" anchor="t"/>
          <a:lstStyle/>
          <a:p>
            <a:pPr indent="0" marL="0">
              <a:buNone/>
            </a:pPr>
            <a:r>
              <a:rPr lang="en-US" sz="1400" dirty="0">
                <a:solidFill>
                  <a:schemeClr val="tx1"/>
                </a:solidFill>
              </a:rPr>
              <a:t>Mostly flat southern lowlands (Terai), plus Kathmandu Valley: dense, well-connected, low-lying.</a:t>
            </a:r>
            <a:endParaRPr lang="en-US" sz="1400" dirty="0"/>
          </a:p>
        </p:txBody>
      </p:sp>
      <p:sp>
        <p:nvSpPr>
          <p:cNvPr id="11" name="Text 8"/>
          <p:cNvSpPr txBox="1"/>
          <p:nvPr/>
        </p:nvSpPr>
        <p:spPr>
          <a:xfrm>
            <a:off x="6949440" y="3383280"/>
            <a:ext cx="4690872" cy="1463040"/>
          </a:xfrm>
          <a:prstGeom prst="rect">
            <a:avLst/>
          </a:prstGeom>
          <a:noFill/>
          <a:ln/>
        </p:spPr>
        <p:txBody>
          <a:bodyPr wrap="square" lIns="0" tIns="0" rIns="0" bIns="0" rtlCol="0" anchor="t"/>
          <a:lstStyle/>
          <a:p>
            <a:pPr indent="0" marL="0">
              <a:buNone/>
            </a:pPr>
            <a:r>
              <a:rPr lang="en-US" sz="1400" b="1" dirty="0">
                <a:solidFill>
                  <a:schemeClr val="tx2"/>
                </a:solidFill>
              </a:rPr>
              <a:t>The cause: </a:t>
            </a:r>
            <a:pPr indent="0" marL="0">
              <a:buNone/>
            </a:pPr>
            <a:r>
              <a:rPr lang="en-US" sz="1400" dirty="0">
                <a:solidFill>
                  <a:schemeClr val="tx1"/>
                </a:solidFill>
              </a:rPr>
              <a:t>our flood variables describe mountain rivers and rain. Lowland floods happen where rivers leave the mountains and spread over flat, crowded plains. No variable in the data captures floodplain flatness.</a:t>
            </a:r>
            <a:endParaRPr lang="en-US" sz="1400" dirty="0"/>
          </a:p>
        </p:txBody>
      </p:sp>
      <p:sp>
        <p:nvSpPr>
          <p:cNvPr id="12" name="honesty card"/>
          <p:cNvSpPr/>
          <p:nvPr/>
        </p:nvSpPr>
        <p:spPr>
          <a:xfrm>
            <a:off x="6949440" y="4937760"/>
            <a:ext cx="4690872" cy="914400"/>
          </a:xfrm>
          <a:prstGeom prst="roundRect">
            <a:avLst>
              <a:gd name="adj" fmla="val 12000"/>
            </a:avLst>
          </a:prstGeom>
          <a:solidFill>
            <a:schemeClr val="bg1"/>
          </a:solidFill>
          <a:ln w="9525">
            <a:solidFill>
              <a:srgbClr val="E2E8F0"/>
            </a:solidFill>
            <a:prstDash val="solid"/>
          </a:ln>
        </p:spPr>
      </p:sp>
      <p:sp>
        <p:nvSpPr>
          <p:cNvPr id="13" name="Text 10"/>
          <p:cNvSpPr txBox="1"/>
          <p:nvPr/>
        </p:nvSpPr>
        <p:spPr>
          <a:xfrm>
            <a:off x="7178040" y="4937760"/>
            <a:ext cx="4297680" cy="914400"/>
          </a:xfrm>
          <a:prstGeom prst="rect">
            <a:avLst/>
          </a:prstGeom>
          <a:noFill/>
          <a:ln/>
        </p:spPr>
        <p:txBody>
          <a:bodyPr wrap="square" lIns="0" tIns="0" rIns="0" bIns="0" rtlCol="0" anchor="ctr"/>
          <a:lstStyle/>
          <a:p>
            <a:pPr indent="0" marL="0">
              <a:buNone/>
            </a:pPr>
            <a:r>
              <a:rPr lang="en-US" sz="1400" i="1" dirty="0">
                <a:solidFill>
                  <a:schemeClr val="tx2"/>
                </a:solidFill>
              </a:rPr>
              <a:t>We report this rather than re-tuning the model until the number looks good.</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METHODOLOGICAL DECISION</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Decision: separate flood and landslide indices</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217920" cy="914400"/>
        </p:xfrm>
        <a:graphic>
          <a:graphicData uri="http://schemas.openxmlformats.org/drawingml/2006/table">
            <a:tbl>
              <a:tblPr/>
              <a:tblGrid>
                <a:gridCol w="2194560"/>
                <a:gridCol w="2011680"/>
                <a:gridCol w="2011680"/>
              </a:tblGrid>
              <a:tr h="56692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Index</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vs recorded floods</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vs recorded landslides</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566928">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Combined index</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0.12</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0.47</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566928">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Flood index</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0.24</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0.10</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566928">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Landslide index</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0.02</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0.52</a:t>
                      </a:r>
                      <a:endParaRPr lang="en-US" sz="1500" dirty="0">
                        <a:latin typeface="Calibri" charset="0"/>
                        <a:ea typeface="Calibri" charset="0"/>
                        <a:cs typeface="Calibri" charset="0"/>
                      </a:endParaRPr>
                    </a:p>
                  </a:txBody>
                  <a:tcPr marL="91440" marR="91440" marT="45720" marB="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r>
            </a:tbl>
          </a:graphicData>
        </a:graphic>
      </p:graphicFrame>
      <p:sp>
        <p:nvSpPr>
          <p:cNvPr id="5" name="Text 2"/>
          <p:cNvSpPr txBox="1"/>
          <p:nvPr/>
        </p:nvSpPr>
        <p:spPr>
          <a:xfrm>
            <a:off x="548640" y="4160520"/>
            <a:ext cx="6217920" cy="365760"/>
          </a:xfrm>
          <a:prstGeom prst="rect">
            <a:avLst/>
          </a:prstGeom>
          <a:noFill/>
          <a:ln/>
        </p:spPr>
        <p:txBody>
          <a:bodyPr wrap="square" lIns="0" tIns="0" rIns="0" bIns="0" rtlCol="0" anchor="t"/>
          <a:lstStyle/>
          <a:p>
            <a:pPr indent="0" marL="0">
              <a:buNone/>
            </a:pPr>
            <a:r>
              <a:rPr lang="en-US" sz="1200" i="1" dirty="0">
                <a:solidFill>
                  <a:srgbClr val="526579"/>
                </a:solidFill>
              </a:rPr>
              <a:t>Highlighted: the best index for each hazard. Spearman ρ across 77 districts.</a:t>
            </a:r>
            <a:endParaRPr lang="en-US" sz="1200" dirty="0"/>
          </a:p>
        </p:txBody>
      </p:sp>
      <p:sp>
        <p:nvSpPr>
          <p:cNvPr id="6" name="Text 3"/>
          <p:cNvSpPr txBox="1"/>
          <p:nvPr/>
        </p:nvSpPr>
        <p:spPr>
          <a:xfrm>
            <a:off x="7223760" y="1737360"/>
            <a:ext cx="457200" cy="5486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1</a:t>
            </a:r>
            <a:endParaRPr lang="en-US" sz="3000" dirty="0"/>
          </a:p>
        </p:txBody>
      </p:sp>
      <p:sp>
        <p:nvSpPr>
          <p:cNvPr id="7" name="Text 4"/>
          <p:cNvSpPr txBox="1"/>
          <p:nvPr/>
        </p:nvSpPr>
        <p:spPr>
          <a:xfrm>
            <a:off x="7772400" y="1783080"/>
            <a:ext cx="3867912" cy="411480"/>
          </a:xfrm>
          <a:prstGeom prst="rect">
            <a:avLst/>
          </a:prstGeom>
          <a:noFill/>
          <a:ln/>
        </p:spPr>
        <p:txBody>
          <a:bodyPr wrap="square" lIns="0" tIns="0" rIns="0" bIns="0" rtlCol="0" anchor="t"/>
          <a:lstStyle/>
          <a:p>
            <a:pPr indent="0" marL="0">
              <a:buNone/>
            </a:pPr>
            <a:r>
              <a:rPr lang="en-US" sz="1500" b="1" dirty="0">
                <a:solidFill>
                  <a:schemeClr val="tx2"/>
                </a:solidFill>
              </a:rPr>
              <a:t>Floods and landslides strike different places</a:t>
            </a:r>
            <a:endParaRPr lang="en-US" sz="1500" dirty="0"/>
          </a:p>
        </p:txBody>
      </p:sp>
      <p:sp>
        <p:nvSpPr>
          <p:cNvPr id="8" name="Text 5"/>
          <p:cNvSpPr txBox="1"/>
          <p:nvPr/>
        </p:nvSpPr>
        <p:spPr>
          <a:xfrm>
            <a:off x="7772400" y="2240280"/>
            <a:ext cx="3867912" cy="822960"/>
          </a:xfrm>
          <a:prstGeom prst="rect">
            <a:avLst/>
          </a:prstGeom>
          <a:noFill/>
          <a:ln/>
        </p:spPr>
        <p:txBody>
          <a:bodyPr wrap="square" lIns="0" tIns="0" rIns="0" bIns="0" rtlCol="0" anchor="t"/>
          <a:lstStyle/>
          <a:p>
            <a:pPr indent="0" marL="0">
              <a:buNone/>
            </a:pPr>
            <a:r>
              <a:rPr lang="en-US" sz="1300" dirty="0">
                <a:solidFill>
                  <a:schemeClr val="tx1"/>
                </a:solidFill>
              </a:rPr>
              <a:t>Their district counts are unrelated (ρ = −0.13). One number can't rank both.</a:t>
            </a:r>
            <a:endParaRPr lang="en-US" sz="1300" dirty="0"/>
          </a:p>
        </p:txBody>
      </p:sp>
      <p:sp>
        <p:nvSpPr>
          <p:cNvPr id="9" name="Text 6"/>
          <p:cNvSpPr txBox="1"/>
          <p:nvPr/>
        </p:nvSpPr>
        <p:spPr>
          <a:xfrm>
            <a:off x="7223760" y="3200400"/>
            <a:ext cx="457200" cy="5486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2</a:t>
            </a:r>
            <a:endParaRPr lang="en-US" sz="3000" dirty="0"/>
          </a:p>
        </p:txBody>
      </p:sp>
      <p:sp>
        <p:nvSpPr>
          <p:cNvPr id="10" name="Text 7"/>
          <p:cNvSpPr txBox="1"/>
          <p:nvPr/>
        </p:nvSpPr>
        <p:spPr>
          <a:xfrm>
            <a:off x="7772400" y="3246120"/>
            <a:ext cx="3867912" cy="411480"/>
          </a:xfrm>
          <a:prstGeom prst="rect">
            <a:avLst/>
          </a:prstGeom>
          <a:noFill/>
          <a:ln/>
        </p:spPr>
        <p:txBody>
          <a:bodyPr wrap="square" lIns="0" tIns="0" rIns="0" bIns="0" rtlCol="0" anchor="t"/>
          <a:lstStyle/>
          <a:p>
            <a:pPr indent="0" marL="0">
              <a:buNone/>
            </a:pPr>
            <a:r>
              <a:rPr lang="en-US" sz="1500" b="1" dirty="0">
                <a:solidFill>
                  <a:schemeClr val="tx2"/>
                </a:solidFill>
              </a:rPr>
              <a:t>Each specific index wins on its own hazard</a:t>
            </a:r>
            <a:endParaRPr lang="en-US" sz="1500" dirty="0"/>
          </a:p>
        </p:txBody>
      </p:sp>
      <p:sp>
        <p:nvSpPr>
          <p:cNvPr id="11" name="Text 8"/>
          <p:cNvSpPr txBox="1"/>
          <p:nvPr/>
        </p:nvSpPr>
        <p:spPr>
          <a:xfrm>
            <a:off x="7772400" y="3703320"/>
            <a:ext cx="3867912" cy="822960"/>
          </a:xfrm>
          <a:prstGeom prst="rect">
            <a:avLst/>
          </a:prstGeom>
          <a:noFill/>
          <a:ln/>
        </p:spPr>
        <p:txBody>
          <a:bodyPr wrap="square" lIns="0" tIns="0" rIns="0" bIns="0" rtlCol="0" anchor="t"/>
          <a:lstStyle/>
          <a:p>
            <a:pPr indent="0" marL="0">
              <a:buNone/>
            </a:pPr>
            <a:r>
              <a:rPr lang="en-US" sz="1300" dirty="0">
                <a:solidFill>
                  <a:schemeClr val="tx1"/>
                </a:solidFill>
              </a:rPr>
              <a:t>Landslide 0.52 vs combined 0.47; flood 0.24 vs combined 0.12.</a:t>
            </a:r>
            <a:endParaRPr lang="en-US" sz="1300" dirty="0"/>
          </a:p>
        </p:txBody>
      </p:sp>
      <p:sp>
        <p:nvSpPr>
          <p:cNvPr id="12" name="Text 9"/>
          <p:cNvSpPr txBox="1"/>
          <p:nvPr/>
        </p:nvSpPr>
        <p:spPr>
          <a:xfrm>
            <a:off x="7223760" y="4663440"/>
            <a:ext cx="457200" cy="5486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3</a:t>
            </a:r>
            <a:endParaRPr lang="en-US" sz="3000" dirty="0"/>
          </a:p>
        </p:txBody>
      </p:sp>
      <p:sp>
        <p:nvSpPr>
          <p:cNvPr id="13" name="Text 10"/>
          <p:cNvSpPr txBox="1"/>
          <p:nvPr/>
        </p:nvSpPr>
        <p:spPr>
          <a:xfrm>
            <a:off x="7772400" y="4709160"/>
            <a:ext cx="3867912" cy="411480"/>
          </a:xfrm>
          <a:prstGeom prst="rect">
            <a:avLst/>
          </a:prstGeom>
          <a:noFill/>
          <a:ln/>
        </p:spPr>
        <p:txBody>
          <a:bodyPr wrap="square" lIns="0" tIns="0" rIns="0" bIns="0" rtlCol="0" anchor="t"/>
          <a:lstStyle/>
          <a:p>
            <a:pPr indent="0" marL="0">
              <a:buNone/>
            </a:pPr>
            <a:r>
              <a:rPr lang="en-US" sz="1500" b="1" dirty="0">
                <a:solidFill>
                  <a:schemeClr val="tx2"/>
                </a:solidFill>
              </a:rPr>
              <a:t>A single index would hide a weakness</a:t>
            </a:r>
            <a:endParaRPr lang="en-US" sz="1500" dirty="0"/>
          </a:p>
        </p:txBody>
      </p:sp>
      <p:sp>
        <p:nvSpPr>
          <p:cNvPr id="14" name="Text 11"/>
          <p:cNvSpPr txBox="1"/>
          <p:nvPr/>
        </p:nvSpPr>
        <p:spPr>
          <a:xfrm>
            <a:off x="7772400" y="5166360"/>
            <a:ext cx="3867912" cy="822960"/>
          </a:xfrm>
          <a:prstGeom prst="rect">
            <a:avLst/>
          </a:prstGeom>
          <a:noFill/>
          <a:ln/>
        </p:spPr>
        <p:txBody>
          <a:bodyPr wrap="square" lIns="0" tIns="0" rIns="0" bIns="0" rtlCol="0" anchor="t"/>
          <a:lstStyle/>
          <a:p>
            <a:pPr indent="0" marL="0">
              <a:buNone/>
            </a:pPr>
            <a:r>
              <a:rPr lang="en-US" sz="1300" dirty="0">
                <a:solidFill>
                  <a:schemeClr val="tx1"/>
                </a:solidFill>
              </a:rPr>
              <a:t>Its apparent success is its landslide part. Separating shows floods need better data.</a:t>
            </a:r>
            <a:endParaRPr lang="en-US" sz="13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VALIDATION  |  DATA QUALITY</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The record has blind spots, including this event</a:t>
            </a:r>
            <a:endParaRPr lang="en-US" sz="3400" dirty="0"/>
          </a:p>
        </p:txBody>
      </p:sp>
      <p:sp>
        <p:nvSpPr>
          <p:cNvPr id="4" name="tag F10"/>
          <p:cNvSpPr/>
          <p:nvPr/>
        </p:nvSpPr>
        <p:spPr>
          <a:xfrm>
            <a:off x="10417759" y="301752"/>
            <a:ext cx="566928" cy="292608"/>
          </a:xfrm>
          <a:prstGeom prst="roundRect">
            <a:avLst>
              <a:gd name="adj" fmla="val 12500"/>
            </a:avLst>
          </a:prstGeom>
          <a:solidFill>
            <a:schemeClr val="bg1"/>
          </a:solidFill>
          <a:ln w="9525">
            <a:solidFill>
              <a:srgbClr val="9DBAD6"/>
            </a:solidFill>
            <a:prstDash val="solid"/>
          </a:ln>
        </p:spPr>
      </p:sp>
      <p:sp>
        <p:nvSpPr>
          <p:cNvPr id="5" name="Text 3"/>
          <p:cNvSpPr txBox="1"/>
          <p:nvPr/>
        </p:nvSpPr>
        <p:spPr>
          <a:xfrm>
            <a:off x="10417759"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F10</a:t>
            </a:r>
            <a:endParaRPr lang="en-US" sz="1100" dirty="0"/>
          </a:p>
        </p:txBody>
      </p:sp>
      <p:sp>
        <p:nvSpPr>
          <p:cNvPr id="6" name="tag F11"/>
          <p:cNvSpPr/>
          <p:nvPr/>
        </p:nvSpPr>
        <p:spPr>
          <a:xfrm>
            <a:off x="11076127" y="301752"/>
            <a:ext cx="566928" cy="292608"/>
          </a:xfrm>
          <a:prstGeom prst="roundRect">
            <a:avLst>
              <a:gd name="adj" fmla="val 12500"/>
            </a:avLst>
          </a:prstGeom>
          <a:solidFill>
            <a:schemeClr val="bg1"/>
          </a:solidFill>
          <a:ln w="9525">
            <a:solidFill>
              <a:srgbClr val="9DBAD6"/>
            </a:solidFill>
            <a:prstDash val="solid"/>
          </a:ln>
        </p:spPr>
      </p:sp>
      <p:sp>
        <p:nvSpPr>
          <p:cNvPr id="7" name="Text 5"/>
          <p:cNvSpPr txBox="1"/>
          <p:nvPr/>
        </p:nvSpPr>
        <p:spPr>
          <a:xfrm>
            <a:off x="11076127" y="301752"/>
            <a:ext cx="566928"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F11</a:t>
            </a:r>
            <a:endParaRPr lang="en-US" sz="1100" dirty="0"/>
          </a:p>
        </p:txBody>
      </p:sp>
      <p:sp>
        <p:nvSpPr>
          <p:cNvPr id="8" name="chart panel"/>
          <p:cNvSpPr/>
          <p:nvPr/>
        </p:nvSpPr>
        <p:spPr>
          <a:xfrm>
            <a:off x="438912" y="1536192"/>
            <a:ext cx="6803136" cy="4745736"/>
          </a:xfrm>
          <a:prstGeom prst="roundRect">
            <a:avLst>
              <a:gd name="adj" fmla="val 2312"/>
            </a:avLst>
          </a:prstGeom>
          <a:solidFill>
            <a:schemeClr val="bg1"/>
          </a:solidFill>
          <a:ln w="9525">
            <a:solidFill>
              <a:srgbClr val="E2E8F0"/>
            </a:solidFill>
            <a:prstDash val="solid"/>
          </a:ln>
        </p:spPr>
      </p:sp>
      <p:graphicFrame>
        <p:nvGraphicFramePr>
          <p:cNvPr id="9" name="Chart 0" descr=""/>
          <p:cNvGraphicFramePr/>
          <p:nvPr/>
        </p:nvGraphicFramePr>
        <p:xfrm>
          <a:off x="548640" y="164592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10" name="Reporting changed, not disasters tile"/>
          <p:cNvSpPr/>
          <p:nvPr/>
        </p:nvSpPr>
        <p:spPr>
          <a:xfrm>
            <a:off x="7498080" y="1645920"/>
            <a:ext cx="594360" cy="594360"/>
          </a:xfrm>
          <a:prstGeom prst="roundRect">
            <a:avLst>
              <a:gd name="adj" fmla="val 22000"/>
            </a:avLst>
          </a:prstGeom>
          <a:solidFill>
            <a:srgbClr val="E6F1F8"/>
          </a:solidFill>
          <a:ln/>
        </p:spPr>
      </p:sp>
      <p:pic>
        <p:nvPicPr>
          <p:cNvPr id="11" name="Reporting changed, not disasters icon" descr="Reporting changed, not disasters">    </p:cNvPr>
          <p:cNvPicPr>
            <a:picLocks noChangeAspect="1"/>
          </p:cNvPicPr>
          <p:nvPr/>
        </p:nvPicPr>
        <p:blipFill>
          <a:blip r:embed="rId2"/>
          <a:stretch>
            <a:fillRect/>
          </a:stretch>
        </p:blipFill>
        <p:spPr>
          <a:xfrm>
            <a:off x="7646670" y="1794510"/>
            <a:ext cx="297180" cy="297180"/>
          </a:xfrm>
          <a:prstGeom prst="rect">
            <a:avLst/>
          </a:prstGeom>
        </p:spPr>
      </p:pic>
      <p:sp>
        <p:nvSpPr>
          <p:cNvPr id="12" name="Text 8"/>
          <p:cNvSpPr txBox="1"/>
          <p:nvPr/>
        </p:nvSpPr>
        <p:spPr>
          <a:xfrm>
            <a:off x="8275320" y="1645920"/>
            <a:ext cx="3364992" cy="365760"/>
          </a:xfrm>
          <a:prstGeom prst="rect">
            <a:avLst/>
          </a:prstGeom>
          <a:noFill/>
          <a:ln/>
        </p:spPr>
        <p:txBody>
          <a:bodyPr wrap="square" lIns="0" tIns="0" rIns="0" bIns="0" rtlCol="0" anchor="t"/>
          <a:lstStyle/>
          <a:p>
            <a:pPr indent="0" marL="0">
              <a:buNone/>
            </a:pPr>
            <a:r>
              <a:rPr lang="en-US" sz="1500" b="1" dirty="0">
                <a:solidFill>
                  <a:schemeClr val="tx2"/>
                </a:solidFill>
              </a:rPr>
              <a:t>Reporting changed, not disasters</a:t>
            </a:r>
            <a:endParaRPr lang="en-US" sz="1500" dirty="0"/>
          </a:p>
        </p:txBody>
      </p:sp>
      <p:sp>
        <p:nvSpPr>
          <p:cNvPr id="13" name="Text 9"/>
          <p:cNvSpPr txBox="1"/>
          <p:nvPr/>
        </p:nvSpPr>
        <p:spPr>
          <a:xfrm>
            <a:off x="8275320" y="2029968"/>
            <a:ext cx="3364992" cy="1005840"/>
          </a:xfrm>
          <a:prstGeom prst="rect">
            <a:avLst/>
          </a:prstGeom>
          <a:noFill/>
          <a:ln/>
        </p:spPr>
        <p:txBody>
          <a:bodyPr wrap="square" lIns="0" tIns="0" rIns="0" bIns="0" rtlCol="0" anchor="t"/>
          <a:lstStyle/>
          <a:p>
            <a:pPr indent="0" marL="0">
              <a:buNone/>
            </a:pPr>
            <a:r>
              <a:rPr lang="en-US" sz="1300" dirty="0">
                <a:solidFill>
                  <a:schemeClr val="tx1"/>
                </a:solidFill>
              </a:rPr>
              <a:t>Events quadrupled after 2023 while deaths per event fell from 0.52 to 0.04: many more minor incidents logged</a:t>
            </a:r>
            <a:endParaRPr lang="en-US" sz="1300" dirty="0"/>
          </a:p>
        </p:txBody>
      </p:sp>
      <p:sp>
        <p:nvSpPr>
          <p:cNvPr id="14" name="The 26 Aug collapse is missing tile"/>
          <p:cNvSpPr/>
          <p:nvPr/>
        </p:nvSpPr>
        <p:spPr>
          <a:xfrm>
            <a:off x="7498080" y="3182112"/>
            <a:ext cx="594360" cy="594360"/>
          </a:xfrm>
          <a:prstGeom prst="roundRect">
            <a:avLst>
              <a:gd name="adj" fmla="val 22000"/>
            </a:avLst>
          </a:prstGeom>
          <a:solidFill>
            <a:srgbClr val="E6F1F8"/>
          </a:solidFill>
          <a:ln/>
        </p:spPr>
      </p:sp>
      <p:pic>
        <p:nvPicPr>
          <p:cNvPr id="15" name="The 26 Aug collapse is missing icon" descr="The 26 Aug collapse is missing">    </p:cNvPr>
          <p:cNvPicPr>
            <a:picLocks noChangeAspect="1"/>
          </p:cNvPicPr>
          <p:nvPr/>
        </p:nvPicPr>
        <p:blipFill>
          <a:blip r:embed="rId3"/>
          <a:stretch>
            <a:fillRect/>
          </a:stretch>
        </p:blipFill>
        <p:spPr>
          <a:xfrm>
            <a:off x="7646670" y="3330702"/>
            <a:ext cx="297180" cy="297180"/>
          </a:xfrm>
          <a:prstGeom prst="rect">
            <a:avLst/>
          </a:prstGeom>
        </p:spPr>
      </p:pic>
      <p:sp>
        <p:nvSpPr>
          <p:cNvPr id="16" name="Text 11"/>
          <p:cNvSpPr txBox="1"/>
          <p:nvPr/>
        </p:nvSpPr>
        <p:spPr>
          <a:xfrm>
            <a:off x="8275320" y="3182112"/>
            <a:ext cx="3364992" cy="365760"/>
          </a:xfrm>
          <a:prstGeom prst="rect">
            <a:avLst/>
          </a:prstGeom>
          <a:noFill/>
          <a:ln/>
        </p:spPr>
        <p:txBody>
          <a:bodyPr wrap="square" lIns="0" tIns="0" rIns="0" bIns="0" rtlCol="0" anchor="t"/>
          <a:lstStyle/>
          <a:p>
            <a:pPr indent="0" marL="0">
              <a:buNone/>
            </a:pPr>
            <a:r>
              <a:rPr lang="en-US" sz="1500" b="1" dirty="0">
                <a:solidFill>
                  <a:schemeClr val="tx2"/>
                </a:solidFill>
              </a:rPr>
              <a:t>The 26 Aug collapse is missing</a:t>
            </a:r>
            <a:endParaRPr lang="en-US" sz="1500" dirty="0"/>
          </a:p>
        </p:txBody>
      </p:sp>
      <p:sp>
        <p:nvSpPr>
          <p:cNvPr id="17" name="Text 12"/>
          <p:cNvSpPr txBox="1"/>
          <p:nvPr/>
        </p:nvSpPr>
        <p:spPr>
          <a:xfrm>
            <a:off x="8275320" y="3566160"/>
            <a:ext cx="3364992" cy="1005840"/>
          </a:xfrm>
          <a:prstGeom prst="rect">
            <a:avLst/>
          </a:prstGeom>
          <a:noFill/>
          <a:ln/>
        </p:spPr>
        <p:txBody>
          <a:bodyPr wrap="square" lIns="0" tIns="0" rIns="0" bIns="0" rtlCol="0" anchor="t"/>
          <a:lstStyle/>
          <a:p>
            <a:pPr indent="0" marL="0">
              <a:buNone/>
            </a:pPr>
            <a:r>
              <a:rPr lang="en-US" sz="1300" dirty="0">
                <a:solidFill>
                  <a:schemeClr val="tx1"/>
                </a:solidFill>
              </a:rPr>
              <a:t>Only six minor events and zero deaths are recorded in the corridor afterwards</a:t>
            </a:r>
            <a:endParaRPr lang="en-US" sz="1300" dirty="0"/>
          </a:p>
        </p:txBody>
      </p:sp>
      <p:sp>
        <p:nvSpPr>
          <p:cNvPr id="18" name="Glacial risk is invisible to our data tile"/>
          <p:cNvSpPr/>
          <p:nvPr/>
        </p:nvSpPr>
        <p:spPr>
          <a:xfrm>
            <a:off x="7498080" y="4718304"/>
            <a:ext cx="594360" cy="594360"/>
          </a:xfrm>
          <a:prstGeom prst="roundRect">
            <a:avLst>
              <a:gd name="adj" fmla="val 22000"/>
            </a:avLst>
          </a:prstGeom>
          <a:solidFill>
            <a:srgbClr val="E6F1F8"/>
          </a:solidFill>
          <a:ln/>
        </p:spPr>
      </p:sp>
      <p:pic>
        <p:nvPicPr>
          <p:cNvPr id="19" name="Glacial risk is invisible to our data icon" descr="Glacial risk is invisible to our data">    </p:cNvPr>
          <p:cNvPicPr>
            <a:picLocks noChangeAspect="1"/>
          </p:cNvPicPr>
          <p:nvPr/>
        </p:nvPicPr>
        <p:blipFill>
          <a:blip r:embed="rId4"/>
          <a:stretch>
            <a:fillRect/>
          </a:stretch>
        </p:blipFill>
        <p:spPr>
          <a:xfrm>
            <a:off x="7646670" y="4866894"/>
            <a:ext cx="297180" cy="297180"/>
          </a:xfrm>
          <a:prstGeom prst="rect">
            <a:avLst/>
          </a:prstGeom>
        </p:spPr>
      </p:pic>
      <p:sp>
        <p:nvSpPr>
          <p:cNvPr id="20" name="Text 14"/>
          <p:cNvSpPr txBox="1"/>
          <p:nvPr/>
        </p:nvSpPr>
        <p:spPr>
          <a:xfrm>
            <a:off x="8275320" y="4718304"/>
            <a:ext cx="3364992" cy="365760"/>
          </a:xfrm>
          <a:prstGeom prst="rect">
            <a:avLst/>
          </a:prstGeom>
          <a:noFill/>
          <a:ln/>
        </p:spPr>
        <p:txBody>
          <a:bodyPr wrap="square" lIns="0" tIns="0" rIns="0" bIns="0" rtlCol="0" anchor="t"/>
          <a:lstStyle/>
          <a:p>
            <a:pPr indent="0" marL="0">
              <a:buNone/>
            </a:pPr>
            <a:r>
              <a:rPr lang="en-US" sz="1500" b="1" dirty="0">
                <a:solidFill>
                  <a:schemeClr val="tx2"/>
                </a:solidFill>
              </a:rPr>
              <a:t>Glacial risk is invisible to our data</a:t>
            </a:r>
            <a:endParaRPr lang="en-US" sz="1500" dirty="0"/>
          </a:p>
        </p:txBody>
      </p:sp>
      <p:sp>
        <p:nvSpPr>
          <p:cNvPr id="21" name="Text 15"/>
          <p:cNvSpPr txBox="1"/>
          <p:nvPr/>
        </p:nvSpPr>
        <p:spPr>
          <a:xfrm>
            <a:off x="8275320" y="5102352"/>
            <a:ext cx="3364992" cy="1005840"/>
          </a:xfrm>
          <a:prstGeom prst="rect">
            <a:avLst/>
          </a:prstGeom>
          <a:noFill/>
          <a:ln/>
        </p:spPr>
        <p:txBody>
          <a:bodyPr wrap="square" lIns="0" tIns="0" rIns="0" bIns="0" rtlCol="0" anchor="t"/>
          <a:lstStyle/>
          <a:p>
            <a:pPr indent="0" marL="0">
              <a:buNone/>
            </a:pPr>
            <a:r>
              <a:rPr lang="en-US" sz="1300" dirty="0">
                <a:solidFill>
                  <a:schemeClr val="tx1"/>
                </a:solidFill>
              </a:rPr>
              <a:t>No glacial-outburst records at all. Corridor ranks #21 and #47</a:t>
            </a:r>
            <a:endParaRPr lang="en-US" sz="13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RECOMMENDATION</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USD 100M: money follows evidence</a:t>
            </a:r>
            <a:endParaRPr lang="en-US" sz="3400" dirty="0"/>
          </a:p>
        </p:txBody>
      </p:sp>
      <p:sp>
        <p:nvSpPr>
          <p:cNvPr id="4" name="chart panel"/>
          <p:cNvSpPr/>
          <p:nvPr/>
        </p:nvSpPr>
        <p:spPr>
          <a:xfrm>
            <a:off x="438912" y="1536192"/>
            <a:ext cx="6986016" cy="4745736"/>
          </a:xfrm>
          <a:prstGeom prst="roundRect">
            <a:avLst>
              <a:gd name="adj" fmla="val 2312"/>
            </a:avLst>
          </a:prstGeom>
          <a:solidFill>
            <a:schemeClr val="bg1"/>
          </a:solidFill>
          <a:ln w="9525">
            <a:solidFill>
              <a:srgbClr val="E2E8F0"/>
            </a:solidFill>
            <a:prstDash val="solid"/>
          </a:ln>
        </p:spPr>
      </p:sp>
      <p:graphicFrame>
        <p:nvGraphicFramePr>
          <p:cNvPr id="5" name="Chart 0" descr=""/>
          <p:cNvGraphicFramePr/>
          <p:nvPr/>
        </p:nvGraphicFramePr>
        <p:xfrm>
          <a:off x="548640" y="164592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6" name="act card"/>
          <p:cNvSpPr/>
          <p:nvPr/>
        </p:nvSpPr>
        <p:spPr>
          <a:xfrm>
            <a:off x="7680960" y="1645920"/>
            <a:ext cx="3959352" cy="2103120"/>
          </a:xfrm>
          <a:prstGeom prst="roundRect">
            <a:avLst>
              <a:gd name="adj" fmla="val 5217"/>
            </a:avLst>
          </a:prstGeom>
          <a:solidFill>
            <a:schemeClr val="bg1"/>
          </a:solidFill>
          <a:ln w="9525">
            <a:solidFill>
              <a:srgbClr val="E2E8F0"/>
            </a:solidFill>
            <a:prstDash val="solid"/>
          </a:ln>
        </p:spPr>
      </p:sp>
      <p:sp>
        <p:nvSpPr>
          <p:cNvPr id="7" name="Text 4"/>
          <p:cNvSpPr txBox="1"/>
          <p:nvPr/>
        </p:nvSpPr>
        <p:spPr>
          <a:xfrm>
            <a:off x="7909560" y="1828800"/>
            <a:ext cx="3566160" cy="640080"/>
          </a:xfrm>
          <a:prstGeom prst="rect">
            <a:avLst/>
          </a:prstGeom>
          <a:noFill/>
          <a:ln/>
        </p:spPr>
        <p:txBody>
          <a:bodyPr wrap="square" lIns="0" tIns="0" rIns="0" bIns="0" rtlCol="0" anchor="t"/>
          <a:lstStyle/>
          <a:p>
            <a:pPr indent="0" marL="0">
              <a:buNone/>
            </a:pPr>
            <a:r>
              <a:rPr lang="en-US" sz="3600" b="1" dirty="0">
                <a:solidFill>
                  <a:schemeClr val="accent2"/>
                </a:solidFill>
                <a:latin typeface="Calibri" pitchFamily="34" charset="0"/>
                <a:ea typeface="Calibri" pitchFamily="34" charset="-122"/>
                <a:cs typeface="Calibri" pitchFamily="34" charset="-120"/>
              </a:rPr>
              <a:t>$63M</a:t>
            </a:r>
            <a:endParaRPr lang="en-US" sz="3600" dirty="0"/>
          </a:p>
        </p:txBody>
      </p:sp>
      <p:sp>
        <p:nvSpPr>
          <p:cNvPr id="8" name="Text 5"/>
          <p:cNvSpPr txBox="1"/>
          <p:nvPr/>
        </p:nvSpPr>
        <p:spPr>
          <a:xfrm>
            <a:off x="7909560" y="2514600"/>
            <a:ext cx="3566160" cy="1097280"/>
          </a:xfrm>
          <a:prstGeom prst="rect">
            <a:avLst/>
          </a:prstGeom>
          <a:noFill/>
          <a:ln/>
        </p:spPr>
        <p:txBody>
          <a:bodyPr wrap="square" lIns="0" tIns="0" rIns="0" bIns="0" rtlCol="0" anchor="t"/>
          <a:lstStyle/>
          <a:p>
            <a:pPr indent="0" marL="0">
              <a:buNone/>
            </a:pPr>
            <a:r>
              <a:rPr lang="en-US" sz="1400" dirty="0">
                <a:solidFill>
                  <a:schemeClr val="tx1"/>
                </a:solidFill>
              </a:rPr>
              <a:t>Act where evidence is strong: landslide and flood early warning, infrastructure, community preparedness</a:t>
            </a:r>
            <a:endParaRPr lang="en-US" sz="1400" dirty="0"/>
          </a:p>
        </p:txBody>
      </p:sp>
      <p:sp>
        <p:nvSpPr>
          <p:cNvPr id="9" name="blind card"/>
          <p:cNvSpPr/>
          <p:nvPr/>
        </p:nvSpPr>
        <p:spPr>
          <a:xfrm>
            <a:off x="7680960" y="4023360"/>
            <a:ext cx="3959352" cy="2148840"/>
          </a:xfrm>
          <a:prstGeom prst="roundRect">
            <a:avLst>
              <a:gd name="adj" fmla="val 5106"/>
            </a:avLst>
          </a:prstGeom>
          <a:solidFill>
            <a:schemeClr val="tx2"/>
          </a:solidFill>
          <a:ln/>
        </p:spPr>
      </p:sp>
      <p:sp>
        <p:nvSpPr>
          <p:cNvPr id="10" name="Text 7"/>
          <p:cNvSpPr txBox="1"/>
          <p:nvPr/>
        </p:nvSpPr>
        <p:spPr>
          <a:xfrm>
            <a:off x="7909560" y="4206240"/>
            <a:ext cx="3566160" cy="640080"/>
          </a:xfrm>
          <a:prstGeom prst="rect">
            <a:avLst/>
          </a:prstGeom>
          <a:noFill/>
          <a:ln/>
        </p:spPr>
        <p:txBody>
          <a:bodyPr wrap="square" lIns="0" tIns="0" rIns="0" bIns="0" rtlCol="0" anchor="t"/>
          <a:lstStyle/>
          <a:p>
            <a:pPr indent="0" marL="0">
              <a:buNone/>
            </a:pPr>
            <a:r>
              <a:rPr lang="en-US" sz="3600" b="1" dirty="0">
                <a:solidFill>
                  <a:schemeClr val="bg1"/>
                </a:solidFill>
              </a:rPr>
              <a:t>$37M</a:t>
            </a:r>
            <a:endParaRPr lang="en-US" sz="3600" dirty="0"/>
          </a:p>
        </p:txBody>
      </p:sp>
      <p:sp>
        <p:nvSpPr>
          <p:cNvPr id="11" name="Text 8"/>
          <p:cNvSpPr txBox="1"/>
          <p:nvPr/>
        </p:nvSpPr>
        <p:spPr>
          <a:xfrm>
            <a:off x="7909560" y="4892040"/>
            <a:ext cx="3566160" cy="1143000"/>
          </a:xfrm>
          <a:prstGeom prst="rect">
            <a:avLst/>
          </a:prstGeom>
          <a:noFill/>
          <a:ln/>
        </p:spPr>
        <p:txBody>
          <a:bodyPr wrap="square" lIns="0" tIns="0" rIns="0" bIns="0" rtlCol="0" anchor="t"/>
          <a:lstStyle/>
          <a:p>
            <a:pPr indent="0" marL="0">
              <a:buNone/>
            </a:pPr>
            <a:r>
              <a:rPr lang="en-US" sz="1400" dirty="0">
                <a:solidFill>
                  <a:schemeClr val="bg1"/>
                </a:solidFill>
              </a:rPr>
              <a:t>Close the blind spots that hid this disaster: glacial and terrain monitoring, better disaster and flood data</a:t>
            </a:r>
            <a:endParaRPr lang="en-US" sz="14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RECOMMENDATION</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Every dollar traces to a finding</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14600"/>
                <a:gridCol w="777240"/>
                <a:gridCol w="6519672"/>
                <a:gridCol w="1280160"/>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Line</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Target districts (selected by rule)</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Findings</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60350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Landslide early warning</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$18M</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Myagdi, Kaski, Taplejung, Darchula, Pyuthan, Gorkha, Lamjung, Sankhuwasabha</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100" b="1" dirty="0">
                          <a:solidFill>
                            <a:schemeClr val="accent1"/>
                          </a:solidFill>
                          <a:latin typeface="Consolas" pitchFamily="34" charset="0"/>
                          <a:ea typeface="Consolas" pitchFamily="34" charset="-122"/>
                          <a:cs typeface="Consolas" pitchFamily="34" charset="-120"/>
                        </a:rPr>
                        <a:t>F1, F2, F8</a:t>
                      </a:r>
                      <a:endParaRPr lang="en-US" sz="1100" dirty="0">
                        <a:latin typeface="Consolas" charset="0"/>
                        <a:ea typeface="Consolas" charset="0"/>
                        <a:cs typeface="Consolas"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60350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Flood early warning</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$10M</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Jhapa, Morang, Kathmandu, Sunsari, Kailali</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100" b="1" dirty="0">
                          <a:solidFill>
                            <a:schemeClr val="accent1"/>
                          </a:solidFill>
                          <a:latin typeface="Consolas" pitchFamily="34" charset="0"/>
                          <a:ea typeface="Consolas" pitchFamily="34" charset="-122"/>
                          <a:cs typeface="Consolas" pitchFamily="34" charset="-120"/>
                        </a:rPr>
                        <a:t>F9</a:t>
                      </a:r>
                      <a:endParaRPr lang="en-US" sz="1100" dirty="0">
                        <a:latin typeface="Consolas" charset="0"/>
                        <a:ea typeface="Consolas" charset="0"/>
                        <a:cs typeface="Consolas"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60350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Terrain &amp; glacial monitoring</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$22M</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Dhading, Gorkha, Humla, Mugu, Ramechhap, Rasuwa, Rukum West, Sankhuwasabha, Sindhupalchok</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100" b="1" dirty="0">
                          <a:solidFill>
                            <a:schemeClr val="accent1"/>
                          </a:solidFill>
                          <a:latin typeface="Consolas" pitchFamily="34" charset="0"/>
                          <a:ea typeface="Consolas" pitchFamily="34" charset="-122"/>
                          <a:cs typeface="Consolas" pitchFamily="34" charset="-120"/>
                        </a:rPr>
                        <a:t>F3, F4, F8, F11</a:t>
                      </a:r>
                      <a:endParaRPr lang="en-US" sz="1100" dirty="0">
                        <a:latin typeface="Consolas" charset="0"/>
                        <a:ea typeface="Consolas" charset="0"/>
                        <a:cs typeface="Consolas"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4980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Infrastructure reinforcement</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$20M</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Chitwan, Dang, Dhading, Dolakha, Kailali, Kaski, Lamjung, Myagdi, Parasi, Ramechhap, Rasuwa, Solukhumbu, Sunsari, Syangja, Tanahu</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100" b="1" dirty="0">
                          <a:solidFill>
                            <a:schemeClr val="accent1"/>
                          </a:solidFill>
                          <a:latin typeface="Consolas" pitchFamily="34" charset="0"/>
                          <a:ea typeface="Consolas" pitchFamily="34" charset="-122"/>
                          <a:cs typeface="Consolas" pitchFamily="34" charset="-120"/>
                        </a:rPr>
                        <a:t>F3, F5</a:t>
                      </a:r>
                      <a:endParaRPr lang="en-US" sz="1100" dirty="0">
                        <a:latin typeface="Consolas" charset="0"/>
                        <a:ea typeface="Consolas" charset="0"/>
                        <a:cs typeface="Consolas"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60350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Community preparedness</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$15M</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Taplejung, Darchula, Bajura, Sankhuwasabha, Myagdi, Rukum East, Bardiya, Mugu, Jajarkot, Doti</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100" b="1" dirty="0">
                          <a:solidFill>
                            <a:schemeClr val="accent1"/>
                          </a:solidFill>
                          <a:latin typeface="Consolas" pitchFamily="34" charset="0"/>
                          <a:ea typeface="Consolas" pitchFamily="34" charset="-122"/>
                          <a:cs typeface="Consolas" pitchFamily="34" charset="-120"/>
                        </a:rPr>
                        <a:t>F6</a:t>
                      </a:r>
                      <a:endParaRPr lang="en-US" sz="1100" dirty="0">
                        <a:latin typeface="Consolas" charset="0"/>
                        <a:ea typeface="Consolas" charset="0"/>
                        <a:cs typeface="Consolas"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60350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Data infrastructure</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$15M</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National, piloted in: Surkhet, Parasi, Parbat, Bardiya, Nawalpur, Mugu, Salyan, Ramechhap, Rukum East, Doti</a:t>
                      </a:r>
                      <a:endParaRPr lang="en-US" sz="12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100" b="1" dirty="0">
                          <a:solidFill>
                            <a:schemeClr val="accent1"/>
                          </a:solidFill>
                          <a:latin typeface="Consolas" pitchFamily="34" charset="0"/>
                          <a:ea typeface="Consolas" pitchFamily="34" charset="-122"/>
                          <a:cs typeface="Consolas" pitchFamily="34" charset="-120"/>
                        </a:rPr>
                        <a:t>F9, F10, F11</a:t>
                      </a:r>
                      <a:endParaRPr lang="en-US" sz="1100" dirty="0">
                        <a:latin typeface="Consolas" charset="0"/>
                        <a:ea typeface="Consolas" charset="0"/>
                        <a:cs typeface="Consolas"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229600" cy="320040"/>
          </a:xfrm>
          <a:prstGeom prst="rect">
            <a:avLst/>
          </a:prstGeom>
          <a:noFill/>
          <a:ln/>
        </p:spPr>
        <p:txBody>
          <a:bodyPr wrap="square" lIns="0" tIns="0" rIns="0" bIns="0" rtlCol="0" anchor="t"/>
          <a:lstStyle/>
          <a:p>
            <a:pPr algn="l" indent="0" marL="0">
              <a:buNone/>
            </a:pPr>
            <a:r>
              <a:rPr lang="en-US" sz="1200" b="1" spc="200" kern="0" dirty="0">
                <a:solidFill>
                  <a:srgbClr val="A9BCD0"/>
                </a:solidFill>
              </a:rPr>
              <a:t>IN SUMMARY</a:t>
            </a:r>
            <a:endParaRPr lang="en-US" sz="1200" dirty="0"/>
          </a:p>
        </p:txBody>
      </p:sp>
      <p:sp>
        <p:nvSpPr>
          <p:cNvPr id="3" name="Text 0"/>
          <p:cNvSpPr/>
          <p:nvPr>
            <p:ph idx="101" type="title" hasCustomPrompt="1"/>
          </p:nvPr>
        </p:nvSpPr>
        <p:spPr>
          <a:xfrm>
            <a:off x="548640" y="868680"/>
            <a:ext cx="11094415" cy="822960"/>
          </a:xfrm>
          <a:prstGeom prst="rect">
            <a:avLst/>
          </a:prstGeom>
          <a:noFill/>
          <a:ln/>
        </p:spPr>
        <p:txBody>
          <a:bodyPr wrap="square" lIns="0" tIns="0" rIns="0" bIns="0" rtlCol="0" anchor="t"/>
          <a:lstStyle/>
          <a:p>
            <a:pPr algn="l" indent="0" marL="0">
              <a:buNone/>
            </a:pPr>
            <a:r>
              <a:rPr lang="en-US" sz="3800" b="1" dirty="0">
                <a:solidFill>
                  <a:schemeClr val="bg1"/>
                </a:solidFill>
              </a:rPr>
              <a:t>Three things to remember</a:t>
            </a:r>
            <a:endParaRPr lang="en-US" sz="3800" dirty="0"/>
          </a:p>
        </p:txBody>
      </p:sp>
      <p:sp>
        <p:nvSpPr>
          <p:cNvPr id="4" name="Text 2"/>
          <p:cNvSpPr txBox="1"/>
          <p:nvPr/>
        </p:nvSpPr>
        <p:spPr>
          <a:xfrm>
            <a:off x="548640" y="2148840"/>
            <a:ext cx="914400" cy="822960"/>
          </a:xfrm>
          <a:prstGeom prst="rect">
            <a:avLst/>
          </a:prstGeom>
          <a:noFill/>
          <a:ln/>
        </p:spPr>
        <p:txBody>
          <a:bodyPr wrap="square" lIns="0" tIns="0" rIns="0" bIns="0" rtlCol="0" anchor="t"/>
          <a:lstStyle/>
          <a:p>
            <a:pPr indent="0" marL="0">
              <a:buNone/>
            </a:pPr>
            <a:r>
              <a:rPr lang="en-US" sz="5400" b="1" dirty="0">
                <a:solidFill>
                  <a:srgbClr val="56B4E9"/>
                </a:solidFill>
              </a:rPr>
              <a:t>1</a:t>
            </a:r>
            <a:endParaRPr lang="en-US" sz="5400" dirty="0"/>
          </a:p>
        </p:txBody>
      </p:sp>
      <p:sp>
        <p:nvSpPr>
          <p:cNvPr id="5" name="Text 3"/>
          <p:cNvSpPr txBox="1"/>
          <p:nvPr/>
        </p:nvSpPr>
        <p:spPr>
          <a:xfrm>
            <a:off x="548640" y="3063240"/>
            <a:ext cx="3429000" cy="914400"/>
          </a:xfrm>
          <a:prstGeom prst="rect">
            <a:avLst/>
          </a:prstGeom>
          <a:noFill/>
          <a:ln/>
        </p:spPr>
        <p:txBody>
          <a:bodyPr wrap="square" lIns="0" tIns="0" rIns="0" bIns="0" rtlCol="0" anchor="t"/>
          <a:lstStyle/>
          <a:p>
            <a:pPr indent="0" marL="0">
              <a:buNone/>
            </a:pPr>
            <a:r>
              <a:rPr lang="en-US" sz="2000" b="1" dirty="0">
                <a:solidFill>
                  <a:schemeClr val="bg1"/>
                </a:solidFill>
              </a:rPr>
              <a:t>Rain extremes are rising</a:t>
            </a:r>
            <a:endParaRPr lang="en-US" sz="2000" dirty="0"/>
          </a:p>
        </p:txBody>
      </p:sp>
      <p:sp>
        <p:nvSpPr>
          <p:cNvPr id="6" name="Text 4"/>
          <p:cNvSpPr txBox="1"/>
          <p:nvPr/>
        </p:nvSpPr>
        <p:spPr>
          <a:xfrm>
            <a:off x="548640" y="4069080"/>
            <a:ext cx="3429000" cy="1188720"/>
          </a:xfrm>
          <a:prstGeom prst="rect">
            <a:avLst/>
          </a:prstGeom>
          <a:noFill/>
          <a:ln/>
        </p:spPr>
        <p:txBody>
          <a:bodyPr wrap="square" lIns="0" tIns="0" rIns="0" bIns="0" rtlCol="0" anchor="t"/>
          <a:lstStyle/>
          <a:p>
            <a:pPr indent="0" marL="0">
              <a:buNone/>
            </a:pPr>
            <a:r>
              <a:rPr lang="en-US" sz="1500" dirty="0">
                <a:solidFill>
                  <a:schemeClr val="bg2"/>
                </a:solidFill>
              </a:rPr>
              <a:t>+22.1 mm a year since 2004 and about half again as many extreme-rain days.</a:t>
            </a:r>
            <a:endParaRPr lang="en-US" sz="1500" dirty="0"/>
          </a:p>
        </p:txBody>
      </p:sp>
      <p:sp>
        <p:nvSpPr>
          <p:cNvPr id="7" name="Text 5"/>
          <p:cNvSpPr txBox="1"/>
          <p:nvPr/>
        </p:nvSpPr>
        <p:spPr>
          <a:xfrm>
            <a:off x="548640" y="5349240"/>
            <a:ext cx="3429000" cy="320040"/>
          </a:xfrm>
          <a:prstGeom prst="rect">
            <a:avLst/>
          </a:prstGeom>
          <a:noFill/>
          <a:ln/>
        </p:spPr>
        <p:txBody>
          <a:bodyPr wrap="square" lIns="0" tIns="0" rIns="0" bIns="0" rtlCol="0" anchor="t"/>
          <a:lstStyle/>
          <a:p>
            <a:pPr indent="0" marL="0">
              <a:buNone/>
            </a:pPr>
            <a:r>
              <a:rPr lang="en-US" sz="1200" b="1" dirty="0">
                <a:solidFill>
                  <a:srgbClr val="A9BCD0"/>
                </a:solidFill>
                <a:latin typeface="Consolas" pitchFamily="34" charset="0"/>
                <a:ea typeface="Consolas" pitchFamily="34" charset="-122"/>
                <a:cs typeface="Consolas" pitchFamily="34" charset="-120"/>
              </a:rPr>
              <a:t>F1, F2</a:t>
            </a:r>
            <a:endParaRPr lang="en-US" sz="1200" dirty="0"/>
          </a:p>
        </p:txBody>
      </p:sp>
      <p:sp>
        <p:nvSpPr>
          <p:cNvPr id="8" name="Text 6"/>
          <p:cNvSpPr txBox="1"/>
          <p:nvPr/>
        </p:nvSpPr>
        <p:spPr>
          <a:xfrm>
            <a:off x="4361688" y="2148840"/>
            <a:ext cx="914400" cy="822960"/>
          </a:xfrm>
          <a:prstGeom prst="rect">
            <a:avLst/>
          </a:prstGeom>
          <a:noFill/>
          <a:ln/>
        </p:spPr>
        <p:txBody>
          <a:bodyPr wrap="square" lIns="0" tIns="0" rIns="0" bIns="0" rtlCol="0" anchor="t"/>
          <a:lstStyle/>
          <a:p>
            <a:pPr indent="0" marL="0">
              <a:buNone/>
            </a:pPr>
            <a:r>
              <a:rPr lang="en-US" sz="5400" b="1" dirty="0">
                <a:solidFill>
                  <a:srgbClr val="56B4E9"/>
                </a:solidFill>
              </a:rPr>
              <a:t>2</a:t>
            </a:r>
            <a:endParaRPr lang="en-US" sz="5400" dirty="0"/>
          </a:p>
        </p:txBody>
      </p:sp>
      <p:sp>
        <p:nvSpPr>
          <p:cNvPr id="9" name="Text 7"/>
          <p:cNvSpPr txBox="1"/>
          <p:nvPr/>
        </p:nvSpPr>
        <p:spPr>
          <a:xfrm>
            <a:off x="4361688" y="3063240"/>
            <a:ext cx="3429000" cy="914400"/>
          </a:xfrm>
          <a:prstGeom prst="rect">
            <a:avLst/>
          </a:prstGeom>
          <a:noFill/>
          <a:ln/>
        </p:spPr>
        <p:txBody>
          <a:bodyPr wrap="square" lIns="0" tIns="0" rIns="0" bIns="0" rtlCol="0" anchor="t"/>
          <a:lstStyle/>
          <a:p>
            <a:pPr indent="0" marL="0">
              <a:buNone/>
            </a:pPr>
            <a:r>
              <a:rPr lang="en-US" sz="2000" b="1" dirty="0">
                <a:solidFill>
                  <a:schemeClr val="bg1"/>
                </a:solidFill>
              </a:rPr>
              <a:t>We can rank landslide risk, not floods or glacial collapse</a:t>
            </a:r>
            <a:endParaRPr lang="en-US" sz="2000" dirty="0"/>
          </a:p>
        </p:txBody>
      </p:sp>
      <p:sp>
        <p:nvSpPr>
          <p:cNvPr id="10" name="Text 8"/>
          <p:cNvSpPr txBox="1"/>
          <p:nvPr/>
        </p:nvSpPr>
        <p:spPr>
          <a:xfrm>
            <a:off x="4361688" y="4069080"/>
            <a:ext cx="3429000" cy="1188720"/>
          </a:xfrm>
          <a:prstGeom prst="rect">
            <a:avLst/>
          </a:prstGeom>
          <a:noFill/>
          <a:ln/>
        </p:spPr>
        <p:txBody>
          <a:bodyPr wrap="square" lIns="0" tIns="0" rIns="0" bIns="0" rtlCol="0" anchor="t"/>
          <a:lstStyle/>
          <a:p>
            <a:pPr indent="0" marL="0">
              <a:buNone/>
            </a:pPr>
            <a:r>
              <a:rPr lang="en-US" sz="1500" dirty="0">
                <a:solidFill>
                  <a:schemeClr val="bg2"/>
                </a:solidFill>
              </a:rPr>
              <a:t>Terrain explains half of landslide variation. Floods and the August collapse sit in data blind spots.</a:t>
            </a:r>
            <a:endParaRPr lang="en-US" sz="1500" dirty="0"/>
          </a:p>
        </p:txBody>
      </p:sp>
      <p:sp>
        <p:nvSpPr>
          <p:cNvPr id="11" name="Text 9"/>
          <p:cNvSpPr txBox="1"/>
          <p:nvPr/>
        </p:nvSpPr>
        <p:spPr>
          <a:xfrm>
            <a:off x="4361688" y="5349240"/>
            <a:ext cx="3429000" cy="320040"/>
          </a:xfrm>
          <a:prstGeom prst="rect">
            <a:avLst/>
          </a:prstGeom>
          <a:noFill/>
          <a:ln/>
        </p:spPr>
        <p:txBody>
          <a:bodyPr wrap="square" lIns="0" tIns="0" rIns="0" bIns="0" rtlCol="0" anchor="t"/>
          <a:lstStyle/>
          <a:p>
            <a:pPr indent="0" marL="0">
              <a:buNone/>
            </a:pPr>
            <a:r>
              <a:rPr lang="en-US" sz="1200" b="1" dirty="0">
                <a:solidFill>
                  <a:srgbClr val="A9BCD0"/>
                </a:solidFill>
                <a:latin typeface="Consolas" pitchFamily="34" charset="0"/>
                <a:ea typeface="Consolas" pitchFamily="34" charset="-122"/>
                <a:cs typeface="Consolas" pitchFamily="34" charset="-120"/>
              </a:rPr>
              <a:t>F8 to F11</a:t>
            </a:r>
            <a:endParaRPr lang="en-US" sz="1200" dirty="0"/>
          </a:p>
        </p:txBody>
      </p:sp>
      <p:sp>
        <p:nvSpPr>
          <p:cNvPr id="12" name="Text 10"/>
          <p:cNvSpPr txBox="1"/>
          <p:nvPr/>
        </p:nvSpPr>
        <p:spPr>
          <a:xfrm>
            <a:off x="8174736" y="2148840"/>
            <a:ext cx="914400" cy="822960"/>
          </a:xfrm>
          <a:prstGeom prst="rect">
            <a:avLst/>
          </a:prstGeom>
          <a:noFill/>
          <a:ln/>
        </p:spPr>
        <p:txBody>
          <a:bodyPr wrap="square" lIns="0" tIns="0" rIns="0" bIns="0" rtlCol="0" anchor="t"/>
          <a:lstStyle/>
          <a:p>
            <a:pPr indent="0" marL="0">
              <a:buNone/>
            </a:pPr>
            <a:r>
              <a:rPr lang="en-US" sz="5400" b="1" dirty="0">
                <a:solidFill>
                  <a:srgbClr val="56B4E9"/>
                </a:solidFill>
              </a:rPr>
              <a:t>3</a:t>
            </a:r>
            <a:endParaRPr lang="en-US" sz="5400" dirty="0"/>
          </a:p>
        </p:txBody>
      </p:sp>
      <p:sp>
        <p:nvSpPr>
          <p:cNvPr id="13" name="Text 11"/>
          <p:cNvSpPr txBox="1"/>
          <p:nvPr/>
        </p:nvSpPr>
        <p:spPr>
          <a:xfrm>
            <a:off x="8174736" y="3063240"/>
            <a:ext cx="3429000" cy="914400"/>
          </a:xfrm>
          <a:prstGeom prst="rect">
            <a:avLst/>
          </a:prstGeom>
          <a:noFill/>
          <a:ln/>
        </p:spPr>
        <p:txBody>
          <a:bodyPr wrap="square" lIns="0" tIns="0" rIns="0" bIns="0" rtlCol="0" anchor="t"/>
          <a:lstStyle/>
          <a:p>
            <a:pPr indent="0" marL="0">
              <a:buNone/>
            </a:pPr>
            <a:r>
              <a:rPr lang="en-US" sz="2000" b="1" dirty="0">
                <a:solidFill>
                  <a:schemeClr val="bg1"/>
                </a:solidFill>
              </a:rPr>
              <a:t>Money follows evidence</a:t>
            </a:r>
            <a:endParaRPr lang="en-US" sz="2000" dirty="0"/>
          </a:p>
        </p:txBody>
      </p:sp>
      <p:sp>
        <p:nvSpPr>
          <p:cNvPr id="14" name="Text 12"/>
          <p:cNvSpPr txBox="1"/>
          <p:nvPr/>
        </p:nvSpPr>
        <p:spPr>
          <a:xfrm>
            <a:off x="8174736" y="4069080"/>
            <a:ext cx="3429000" cy="1188720"/>
          </a:xfrm>
          <a:prstGeom prst="rect">
            <a:avLst/>
          </a:prstGeom>
          <a:noFill/>
          <a:ln/>
        </p:spPr>
        <p:txBody>
          <a:bodyPr wrap="square" lIns="0" tIns="0" rIns="0" bIns="0" rtlCol="0" anchor="t"/>
          <a:lstStyle/>
          <a:p>
            <a:pPr indent="0" marL="0">
              <a:buNone/>
            </a:pPr>
            <a:r>
              <a:rPr lang="en-US" sz="1500" dirty="0">
                <a:solidFill>
                  <a:schemeClr val="bg2"/>
                </a:solidFill>
              </a:rPr>
              <a:t>$63M protects where evidence is strong; $37M closes the blind spots that hid this disaster.</a:t>
            </a:r>
            <a:endParaRPr lang="en-US" sz="1500" dirty="0"/>
          </a:p>
        </p:txBody>
      </p:sp>
      <p:sp>
        <p:nvSpPr>
          <p:cNvPr id="15" name="Text 13"/>
          <p:cNvSpPr txBox="1"/>
          <p:nvPr/>
        </p:nvSpPr>
        <p:spPr>
          <a:xfrm>
            <a:off x="8174736" y="5349240"/>
            <a:ext cx="3429000" cy="320040"/>
          </a:xfrm>
          <a:prstGeom prst="rect">
            <a:avLst/>
          </a:prstGeom>
          <a:noFill/>
          <a:ln/>
        </p:spPr>
        <p:txBody>
          <a:bodyPr wrap="square" lIns="0" tIns="0" rIns="0" bIns="0" rtlCol="0" anchor="t"/>
          <a:lstStyle/>
          <a:p>
            <a:pPr indent="0" marL="0">
              <a:buNone/>
            </a:pPr>
            <a:r>
              <a:rPr lang="en-US" sz="1200" b="1" dirty="0">
                <a:solidFill>
                  <a:srgbClr val="A9BCD0"/>
                </a:solidFill>
                <a:latin typeface="Consolas" pitchFamily="34" charset="0"/>
                <a:ea typeface="Consolas" pitchFamily="34" charset="-122"/>
                <a:cs typeface="Consolas" pitchFamily="34" charset="-120"/>
              </a:rPr>
              <a:t>All findings</a:t>
            </a:r>
            <a:endParaRPr lang="en-US" sz="1200" dirty="0"/>
          </a:p>
        </p:txBody>
      </p:sp>
      <p:sp>
        <p:nvSpPr>
          <p:cNvPr id="16" name="Text 14"/>
          <p:cNvSpPr txBox="1"/>
          <p:nvPr/>
        </p:nvSpPr>
        <p:spPr>
          <a:xfrm>
            <a:off x="548640" y="6126480"/>
            <a:ext cx="11094415" cy="365760"/>
          </a:xfrm>
          <a:prstGeom prst="rect">
            <a:avLst/>
          </a:prstGeom>
          <a:noFill/>
          <a:ln/>
        </p:spPr>
        <p:txBody>
          <a:bodyPr wrap="square" lIns="0" tIns="0" rIns="0" bIns="0" rtlCol="0" anchor="t"/>
          <a:lstStyle/>
          <a:p>
            <a:pPr indent="0" marL="0">
              <a:buNone/>
            </a:pPr>
            <a:r>
              <a:rPr lang="en-US" sz="1300" dirty="0">
                <a:solidFill>
                  <a:srgbClr val="A9BCD0"/>
                </a:solidFill>
              </a:rPr>
              <a:t>Explore the live app:  </a:t>
            </a:r>
            <a:pPr indent="0" marL="0">
              <a:buNone/>
            </a:pPr>
            <a:r>
              <a:rPr lang="en-US" sz="1300" b="1" u="sng" dirty="0">
                <a:solidFill>
                  <a:srgbClr val="56B4E9"/>
                </a:solidFill>
                <a:hlinkClick r:id="rId1" invalidUrl="" action="" tgtFrame="" tooltip="Open the live Nepal Climate Risk app" history="1" highlightClick="0" endSnd="0">
                  <a:extLst>
                    <a:ext uri="{A12FA001-AC4F-418D-AE19-62706E023703}">
                      <ahyp:hlinkClr xmlns:ahyp="http://schemas.microsoft.com/office/drawing/2018/hyperlinkcolor" val="tx"/>
                    </a:ext>
                  </a:extLst>
                </a:hlinkClick>
              </a:rPr>
              <a:t>nepal-climate-risk.streamlit.app</a:t>
            </a:r>
            <a:pPr indent="0" marL="0">
              <a:buNone/>
            </a:pPr>
            <a:r>
              <a:rPr lang="en-US" sz="1300" dirty="0">
                <a:solidFill>
                  <a:srgbClr val="A9BCD0"/>
                </a:solidFill>
              </a:rPr>
              <a:t>     ·     Kingsley Chigozie, Analyst     ·     Full method and code: nepal_risk_assessment.ipynb</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t"/>
          <a:lstStyle/>
          <a:p>
            <a:pPr algn="l" indent="0" marL="0">
              <a:buNone/>
            </a:pPr>
            <a:r>
              <a:rPr lang="en-US" sz="1200" b="1" spc="200" kern="0" dirty="0">
                <a:solidFill>
                  <a:schemeClr val="accent2"/>
                </a:solidFill>
              </a:rPr>
              <a:t>APPENDIX</a:t>
            </a:r>
            <a:endParaRPr lang="en-US" sz="1200" dirty="0"/>
          </a:p>
        </p:txBody>
      </p:sp>
      <p:sp>
        <p:nvSpPr>
          <p:cNvPr id="3" name="Text 0"/>
          <p:cNvSpPr/>
          <p:nvPr>
            <p:ph idx="101" type="title" hasCustomPrompt="1"/>
          </p:nvPr>
        </p:nvSpPr>
        <p:spPr>
          <a:xfrm>
            <a:off x="548640" y="640080"/>
            <a:ext cx="11094415" cy="777240"/>
          </a:xfrm>
          <a:prstGeom prst="rect">
            <a:avLst/>
          </a:prstGeom>
          <a:noFill/>
          <a:ln/>
        </p:spPr>
        <p:txBody>
          <a:bodyPr wrap="square" lIns="0" tIns="0" rIns="0" bIns="0" rtlCol="0" anchor="t"/>
          <a:lstStyle/>
          <a:p>
            <a:pPr algn="l" indent="0" marL="0">
              <a:buNone/>
            </a:pPr>
            <a:r>
              <a:rPr lang="en-US" sz="3400" b="1" dirty="0">
                <a:solidFill>
                  <a:schemeClr val="tx2"/>
                </a:solidFill>
              </a:rPr>
              <a:t>Sources, assumptions and limitations</a:t>
            </a:r>
            <a:endParaRPr lang="en-US" sz="3400" dirty="0"/>
          </a:p>
        </p:txBody>
      </p:sp>
      <p:sp>
        <p:nvSpPr>
          <p:cNvPr id="4" name="Text 2"/>
          <p:cNvSpPr txBox="1"/>
          <p:nvPr/>
        </p:nvSpPr>
        <p:spPr>
          <a:xfrm>
            <a:off x="548640" y="1554480"/>
            <a:ext cx="3474720" cy="365760"/>
          </a:xfrm>
          <a:prstGeom prst="rect">
            <a:avLst/>
          </a:prstGeom>
          <a:noFill/>
          <a:ln/>
        </p:spPr>
        <p:txBody>
          <a:bodyPr wrap="square" lIns="0" tIns="0" rIns="0" bIns="0" rtlCol="0" anchor="t"/>
          <a:lstStyle/>
          <a:p>
            <a:pPr indent="0" marL="0">
              <a:buNone/>
            </a:pPr>
            <a:r>
              <a:rPr lang="en-US" sz="1500" b="1" dirty="0">
                <a:solidFill>
                  <a:schemeClr val="accent1"/>
                </a:solidFill>
              </a:rPr>
              <a:t>Data sources</a:t>
            </a:r>
            <a:endParaRPr lang="en-US" sz="1500" dirty="0"/>
          </a:p>
        </p:txBody>
      </p:sp>
      <p:sp>
        <p:nvSpPr>
          <p:cNvPr id="5" name="Text 3"/>
          <p:cNvSpPr txBox="1"/>
          <p:nvPr/>
        </p:nvSpPr>
        <p:spPr>
          <a:xfrm>
            <a:off x="548640" y="2011680"/>
            <a:ext cx="3474720" cy="4343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NASA POWER (power.larc.nasa.gov): daily rainfall (PRECTOTCORR), temperature, humidity, wind</a:t>
            </a:r>
            <a:endParaRPr lang="en-US" sz="1300" dirty="0"/>
          </a:p>
          <a:p>
            <a:pPr marL="342900" indent="-342900">
              <a:spcAft>
                <a:spcPts val="400"/>
              </a:spcAft>
              <a:buSzPct val="100000"/>
              <a:buChar char="•"/>
            </a:pPr>
            <a:r>
              <a:rPr lang="en-US" sz="1300" dirty="0">
                <a:solidFill>
                  <a:schemeClr val="tx1"/>
                </a:solidFill>
              </a:rPr>
              <a:t>HydroSHEDS: elevation (15 arc-sec DEM) and flow accumulation</a:t>
            </a:r>
            <a:endParaRPr lang="en-US" sz="1300" dirty="0"/>
          </a:p>
          <a:p>
            <a:pPr marL="342900" indent="-342900">
              <a:spcAft>
                <a:spcPts val="400"/>
              </a:spcAft>
              <a:buSzPct val="100000"/>
              <a:buChar char="•"/>
            </a:pPr>
            <a:r>
              <a:rPr lang="en-US" sz="1300" dirty="0">
                <a:solidFill>
                  <a:schemeClr val="tx1"/>
                </a:solidFill>
              </a:rPr>
              <a:t>Nepal National Statistics Office, 2021 Census: population and density</a:t>
            </a:r>
            <a:endParaRPr lang="en-US" sz="1300" dirty="0"/>
          </a:p>
          <a:p>
            <a:pPr marL="342900" indent="-342900">
              <a:spcAft>
                <a:spcPts val="400"/>
              </a:spcAft>
              <a:buSzPct val="100000"/>
              <a:buChar char="•"/>
            </a:pPr>
            <a:r>
              <a:rPr lang="en-US" sz="1300" dirty="0">
                <a:solidFill>
                  <a:schemeClr val="tx1"/>
                </a:solidFill>
              </a:rPr>
              <a:t>OpenStreetMap (Overpass API): hospitals, schools, roads, bridges</a:t>
            </a:r>
            <a:endParaRPr lang="en-US" sz="1300" dirty="0"/>
          </a:p>
          <a:p>
            <a:pPr marL="342900" indent="-342900">
              <a:spcAft>
                <a:spcPts val="400"/>
              </a:spcAft>
              <a:buSzPct val="100000"/>
              <a:buChar char="•"/>
            </a:pPr>
            <a:r>
              <a:rPr lang="en-US" sz="1300" dirty="0">
                <a:solidFill>
                  <a:schemeClr val="tx1"/>
                </a:solidFill>
              </a:rPr>
              <a:t>Wikipedia, List of power stations in Nepal (9 Mar 2026): hydropower</a:t>
            </a:r>
            <a:endParaRPr lang="en-US" sz="1300" dirty="0"/>
          </a:p>
          <a:p>
            <a:pPr marL="342900" indent="-342900">
              <a:spcAft>
                <a:spcPts val="400"/>
              </a:spcAft>
              <a:buSzPct val="100000"/>
              <a:buChar char="•"/>
            </a:pPr>
            <a:r>
              <a:rPr lang="en-US" sz="1300" dirty="0">
                <a:solidFill>
                  <a:schemeClr val="tx1"/>
                </a:solidFill>
              </a:rPr>
              <a:t>geoBoundaries ADM2: district boundaries and area</a:t>
            </a:r>
            <a:endParaRPr lang="en-US" sz="1300" dirty="0"/>
          </a:p>
          <a:p>
            <a:pPr marL="342900" indent="-342900">
              <a:spcAft>
                <a:spcPts val="400"/>
              </a:spcAft>
              <a:buSzPct val="100000"/>
              <a:buChar char="•"/>
            </a:pPr>
            <a:r>
              <a:rPr lang="en-US" sz="1300" dirty="0">
                <a:solidFill>
                  <a:schemeClr val="tx1"/>
                </a:solidFill>
              </a:rPr>
              <a:t>BIPAD Portal, Government of Nepal: disaster incidents 2011-2026</a:t>
            </a:r>
            <a:endParaRPr lang="en-US" sz="1300" dirty="0"/>
          </a:p>
        </p:txBody>
      </p:sp>
      <p:sp>
        <p:nvSpPr>
          <p:cNvPr id="6" name="Text 4"/>
          <p:cNvSpPr txBox="1"/>
          <p:nvPr/>
        </p:nvSpPr>
        <p:spPr>
          <a:xfrm>
            <a:off x="4361688" y="1554480"/>
            <a:ext cx="3474720" cy="365760"/>
          </a:xfrm>
          <a:prstGeom prst="rect">
            <a:avLst/>
          </a:prstGeom>
          <a:noFill/>
          <a:ln/>
        </p:spPr>
        <p:txBody>
          <a:bodyPr wrap="square" lIns="0" tIns="0" rIns="0" bIns="0" rtlCol="0" anchor="t"/>
          <a:lstStyle/>
          <a:p>
            <a:pPr indent="0" marL="0">
              <a:buNone/>
            </a:pPr>
            <a:r>
              <a:rPr lang="en-US" sz="1500" b="1" dirty="0">
                <a:solidFill>
                  <a:schemeClr val="accent1"/>
                </a:solidFill>
              </a:rPr>
              <a:t>Key assumptions</a:t>
            </a:r>
            <a:endParaRPr lang="en-US" sz="1500" dirty="0"/>
          </a:p>
        </p:txBody>
      </p:sp>
      <p:sp>
        <p:nvSpPr>
          <p:cNvPr id="7" name="Text 5"/>
          <p:cNvSpPr txBox="1"/>
          <p:nvPr/>
        </p:nvSpPr>
        <p:spPr>
          <a:xfrm>
            <a:off x="4361688" y="2011680"/>
            <a:ext cx="3474720" cy="4343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Climate trends 2004-2025 only; 45 independent series counted once</a:t>
            </a:r>
            <a:endParaRPr lang="en-US" sz="1300" dirty="0"/>
          </a:p>
          <a:p>
            <a:pPr marL="342900" indent="-342900">
              <a:spcAft>
                <a:spcPts val="400"/>
              </a:spcAft>
              <a:buSzPct val="100000"/>
              <a:buChar char="•"/>
            </a:pPr>
            <a:r>
              <a:rPr lang="en-US" sz="1300" dirty="0">
                <a:solidFill>
                  <a:schemeClr val="tx1"/>
                </a:solidFill>
              </a:rPr>
              <a:t>Extreme day = above district P95 of rainy days (≥ 1 mm)</a:t>
            </a:r>
            <a:endParaRPr lang="en-US" sz="1300" dirty="0"/>
          </a:p>
          <a:p>
            <a:pPr marL="342900" indent="-342900">
              <a:spcAft>
                <a:spcPts val="400"/>
              </a:spcAft>
              <a:buSzPct val="100000"/>
              <a:buChar char="•"/>
            </a:pPr>
            <a:r>
              <a:rPr lang="en-US" sz="1300" dirty="0">
                <a:solidFill>
                  <a:schemeClr val="tx1"/>
                </a:solidFill>
              </a:rPr>
              <a:t>Baseline 2004-19 vs recent 2020-25; meaningful if larger than baseline year-to-year variation</a:t>
            </a:r>
            <a:endParaRPr lang="en-US" sz="1300" dirty="0"/>
          </a:p>
          <a:p>
            <a:pPr marL="342900" indent="-342900">
              <a:spcAft>
                <a:spcPts val="400"/>
              </a:spcAft>
              <a:buSzPct val="100000"/>
              <a:buChar char="•"/>
            </a:pPr>
            <a:r>
              <a:rPr lang="en-US" sz="1300" dirty="0">
                <a:solidFill>
                  <a:schemeClr val="tx1"/>
                </a:solidFill>
              </a:rPr>
              <a:t>Ruggedness = elevation standard deviation (slope data unusable)</a:t>
            </a:r>
            <a:endParaRPr lang="en-US" sz="1300" dirty="0"/>
          </a:p>
          <a:p>
            <a:pPr marL="342900" indent="-342900">
              <a:spcAft>
                <a:spcPts val="400"/>
              </a:spcAft>
              <a:buSzPct val="100000"/>
              <a:buChar char="•"/>
            </a:pPr>
            <a:r>
              <a:rPr lang="en-US" sz="1300" dirty="0">
                <a:solidFill>
                  <a:schemeClr val="tx1"/>
                </a:solidFill>
              </a:rPr>
              <a:t>Skewed variables log-scaled, then min-max to 0-100</a:t>
            </a:r>
            <a:endParaRPr lang="en-US" sz="1300" dirty="0"/>
          </a:p>
          <a:p>
            <a:pPr marL="342900" indent="-342900">
              <a:spcAft>
                <a:spcPts val="400"/>
              </a:spcAft>
              <a:buSzPct val="100000"/>
              <a:buChar char="•"/>
            </a:pPr>
            <a:r>
              <a:rPr lang="en-US" sz="1300" dirty="0">
                <a:solidFill>
                  <a:schemeClr val="tx1"/>
                </a:solidFill>
              </a:rPr>
              <a:t>Exposure weights 30/20/20/15/15 (population, density, hydropower, hospitals, schools)</a:t>
            </a:r>
            <a:endParaRPr lang="en-US" sz="1300" dirty="0"/>
          </a:p>
          <a:p>
            <a:pPr marL="342900" indent="-342900">
              <a:spcAft>
                <a:spcPts val="400"/>
              </a:spcAft>
              <a:buSzPct val="100000"/>
              <a:buChar char="•"/>
            </a:pPr>
            <a:r>
              <a:rPr lang="en-US" sz="1300" dirty="0">
                <a:solidFill>
                  <a:schemeClr val="tx1"/>
                </a:solidFill>
              </a:rPr>
              <a:t>Risk = geometric mean of hazard, exposure, vulnerability</a:t>
            </a:r>
            <a:endParaRPr lang="en-US" sz="1300" dirty="0"/>
          </a:p>
        </p:txBody>
      </p:sp>
      <p:sp>
        <p:nvSpPr>
          <p:cNvPr id="8" name="Text 6"/>
          <p:cNvSpPr txBox="1"/>
          <p:nvPr/>
        </p:nvSpPr>
        <p:spPr>
          <a:xfrm>
            <a:off x="8174736" y="1554480"/>
            <a:ext cx="3474720" cy="365760"/>
          </a:xfrm>
          <a:prstGeom prst="rect">
            <a:avLst/>
          </a:prstGeom>
          <a:noFill/>
          <a:ln/>
        </p:spPr>
        <p:txBody>
          <a:bodyPr wrap="square" lIns="0" tIns="0" rIns="0" bIns="0" rtlCol="0" anchor="t"/>
          <a:lstStyle/>
          <a:p>
            <a:pPr indent="0" marL="0">
              <a:buNone/>
            </a:pPr>
            <a:r>
              <a:rPr lang="en-US" sz="1500" b="1" dirty="0">
                <a:solidFill>
                  <a:schemeClr val="accent1"/>
                </a:solidFill>
              </a:rPr>
              <a:t>Limitations</a:t>
            </a:r>
            <a:endParaRPr lang="en-US" sz="1500" dirty="0"/>
          </a:p>
        </p:txBody>
      </p:sp>
      <p:sp>
        <p:nvSpPr>
          <p:cNvPr id="9" name="Text 7"/>
          <p:cNvSpPr txBox="1"/>
          <p:nvPr/>
        </p:nvSpPr>
        <p:spPr>
          <a:xfrm>
            <a:off x="8174736" y="2011680"/>
            <a:ext cx="3474720" cy="4343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No poverty, age, housing or early-warning coverage data</a:t>
            </a:r>
            <a:endParaRPr lang="en-US" sz="1300" dirty="0"/>
          </a:p>
          <a:p>
            <a:pPr marL="342900" indent="-342900">
              <a:spcAft>
                <a:spcPts val="400"/>
              </a:spcAft>
              <a:buSzPct val="100000"/>
              <a:buChar char="•"/>
            </a:pPr>
            <a:r>
              <a:rPr lang="en-US" sz="1300" dirty="0">
                <a:solidFill>
                  <a:schemeClr val="tx1"/>
                </a:solidFill>
              </a:rPr>
              <a:t>OpenStreetMap undercounts rural facilities and roads</a:t>
            </a:r>
            <a:endParaRPr lang="en-US" sz="1300" dirty="0"/>
          </a:p>
          <a:p>
            <a:pPr marL="342900" indent="-342900">
              <a:spcAft>
                <a:spcPts val="400"/>
              </a:spcAft>
              <a:buSzPct val="100000"/>
              <a:buChar char="•"/>
            </a:pPr>
            <a:r>
              <a:rPr lang="en-US" sz="1300" dirty="0">
                <a:solidFill>
                  <a:schemeClr val="tx1"/>
                </a:solidFill>
              </a:rPr>
              <a:t>One rainfall point per district; coarse satellite grid</a:t>
            </a:r>
            <a:endParaRPr lang="en-US" sz="1300" dirty="0"/>
          </a:p>
          <a:p>
            <a:pPr marL="342900" indent="-342900">
              <a:spcAft>
                <a:spcPts val="400"/>
              </a:spcAft>
              <a:buSzPct val="100000"/>
              <a:buChar char="•"/>
            </a:pPr>
            <a:r>
              <a:rPr lang="en-US" sz="1300" dirty="0">
                <a:solidFill>
                  <a:schemeClr val="tx1"/>
                </a:solidFill>
              </a:rPr>
              <a:t>No floodplain or glacial-lake variables</a:t>
            </a:r>
            <a:endParaRPr lang="en-US" sz="1300" dirty="0"/>
          </a:p>
          <a:p>
            <a:pPr marL="342900" indent="-342900">
              <a:spcAft>
                <a:spcPts val="400"/>
              </a:spcAft>
              <a:buSzPct val="100000"/>
              <a:buChar char="•"/>
            </a:pPr>
            <a:r>
              <a:rPr lang="en-US" sz="1300" dirty="0">
                <a:solidFill>
                  <a:schemeClr val="tx1"/>
                </a:solidFill>
              </a:rPr>
              <a:t>Disaster record: reporting surge after 2023; 26 Aug 2026 event missing</a:t>
            </a:r>
            <a:endParaRPr lang="en-US" sz="1300" dirty="0"/>
          </a:p>
          <a:p>
            <a:pPr marL="342900" indent="-342900">
              <a:spcAft>
                <a:spcPts val="400"/>
              </a:spcAft>
              <a:buSzPct val="100000"/>
              <a:buChar char="•"/>
            </a:pPr>
            <a:r>
              <a:rPr lang="en-US" sz="1300" dirty="0">
                <a:solidFill>
                  <a:schemeClr val="tx1"/>
                </a:solidFill>
              </a:rPr>
              <a:t>Correlation shows association, not cause</a:t>
            </a:r>
            <a:endParaRPr lang="en-US" sz="1300" dirty="0"/>
          </a:p>
        </p:txBody>
      </p:sp>
      <p:sp>
        <p:nvSpPr>
          <p:cNvPr id="25" name="Slide Number Placeholder 0"/>
          <p:cNvSpPr>
            <a:spLocks noGrp="1"/>
          </p:cNvSpPr>
          <p:nvPr>
            <p:ph type="sldNum" sz="quarter" idx="4294967295"/>
          </p:nvPr>
        </p:nvSpPr>
        <p:spPr>
          <a:xfrm>
            <a:off x="11274552"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Nepal Climate Risk Intelligence">
  <a:themeElements>
    <a:clrScheme name="Nepal Climate Risk Intelligence">
      <a:dk1>
        <a:srgbClr val="334155"/>
      </a:dk1>
      <a:lt1>
        <a:srgbClr val="FFFFFF"/>
      </a:lt1>
      <a:dk2>
        <a:srgbClr val="112B49"/>
      </a:dk2>
      <a:lt2>
        <a:srgbClr val="F4F7FB"/>
      </a:lt2>
      <a:accent1>
        <a:srgbClr val="195B96"/>
      </a:accent1>
      <a:accent2>
        <a:srgbClr val="0072B2"/>
      </a:accent2>
      <a:accent3>
        <a:srgbClr val="D55E00"/>
      </a:accent3>
      <a:accent4>
        <a:srgbClr val="526579"/>
      </a:accent4>
      <a:accent5>
        <a:srgbClr val="009E73"/>
      </a:accent5>
      <a:accent6>
        <a:srgbClr val="76879A"/>
      </a:accent6>
      <a:hlink>
        <a:srgbClr val="56B4E9"/>
      </a:hlink>
      <a:folHlink>
        <a:srgbClr val="A9BCD0"/>
      </a:folHlink>
    </a:clrScheme>
    <a:fontScheme name="Nepal Climate Risk Intellig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Nepal Climate Risk and Resilience Assessment</dc:title>
  <dc:subject>PptxGenJS Presentation</dc:subject>
  <dc:creator>Kingsley Chigozie</dc:creator>
  <cp:lastModifiedBy>Kingsley Chigozie</cp:lastModifiedBy>
  <cp:revision>1</cp:revision>
  <dcterms:created xsi:type="dcterms:W3CDTF">2026-10-20T05:03:50Z</dcterms:created>
  <dcterms:modified xsi:type="dcterms:W3CDTF">2026-10-20T05:03:50Z</dcterms:modified>
</cp:coreProperties>
</file>